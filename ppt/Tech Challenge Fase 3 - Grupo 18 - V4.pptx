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a6207ec4-1c8e-868b-f57d-b2cfca9db920}">
          <p14:sldIdLst>
            <p14:sldId id="256"/>
            <p14:sldId id="257"/>
            <p14:sldId id="258"/>
          </p14:sldIdLst>
        </p14:section>
        <p14:section name="Arquitetura" id="{2381b401-bdf8-84e6-a26f-3879b5d0b010}">
          <p14:sldIdLst>
            <p14:sldId id="259"/>
          </p14:sldIdLst>
        </p14:section>
        <p14:section name="Mercado e talentos" id="{604f0c49-8bce-6db5-2df1-4d5480d43e31}">
          <p14:sldIdLst>
            <p14:sldId id="260"/>
            <p14:sldId id="261"/>
            <p14:sldId id="262"/>
            <p14:sldId id="263"/>
          </p14:sldIdLst>
        </p14:section>
        <p14:section name="Tecnologia e IA" id="{9561271f-213f-9248-4540-790ee69d6f3b}">
          <p14:sldIdLst>
            <p14:sldId id="264"/>
            <p14:sldId id="265"/>
          </p14:sldIdLst>
        </p14:section>
        <p14:section name="Recomendações" id="{33ec1937-02ad-ef0b-4ed3-2a79784b6a4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Cargos mais comuns, 2025-2026</a:t>
            </a:r>
          </a:p>
        </c:rich>
      </c:tx>
      <c:layout/>
      <c:overlay val="0"/>
    </c:title>
    <c:autoTitleDeleted val="0"/>
    <c:plotArea>
      <c:layout/>
      <c:barChart>
        <c:barDir val="bar"/>
        <c:grouping val="clustered"/>
        <c:varyColors val="0"/>
        <c:ser>
          <c:idx val="0"/>
          <c:order val="0"/>
          <c:tx>
            <c:strRef>
              <c:f>Sheet1!$B$1</c:f>
              <c:strCache>
                <c:ptCount val="1"/>
                <c:pt idx="0">
                  <c:v>Participação</c:v>
                </c:pt>
              </c:strCache>
            </c:strRef>
          </c:tx>
          <c:spPr>
            <a:solidFill>
              <a:srgbClr val="14213D"/>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Sheet1!$A$2:$A$9</c:f>
              <c:strCache>
                <c:ptCount val="8"/>
                <c:pt idx="0">
                  <c:v>Analista de Dados</c:v>
                </c:pt>
                <c:pt idx="1">
                  <c:v>Cientista de Dados</c:v>
                </c:pt>
                <c:pt idx="2">
                  <c:v>Engenheiro de Dados</c:v>
                </c:pt>
                <c:pt idx="3">
                  <c:v>Analista de BI</c:v>
                </c:pt>
                <c:pt idx="4">
                  <c:v>Analista de Negócios</c:v>
                </c:pt>
                <c:pt idx="5">
                  <c:v>Analytics Engineer</c:v>
                </c:pt>
                <c:pt idx="6">
                  <c:v>Dev/Eng. de Software</c:v>
                </c:pt>
                <c:pt idx="7">
                  <c:v>Engenheiro de ML/IA</c:v>
                </c:pt>
              </c:strCache>
            </c:strRef>
          </c:cat>
          <c:val>
            <c:numRef>
              <c:f>Sheet1!$B$2:$B$9</c:f>
              <c:numCache>
                <c:formatCode>0%</c:formatCode>
                <c:ptCount val="8"/>
                <c:pt idx="0">
                  <c:v>0.2396</c:v>
                </c:pt>
                <c:pt idx="1">
                  <c:v>0.1692</c:v>
                </c:pt>
                <c:pt idx="2">
                  <c:v>0.1608</c:v>
                </c:pt>
                <c:pt idx="3">
                  <c:v>0.086</c:v>
                </c:pt>
                <c:pt idx="4">
                  <c:v>0.0564</c:v>
                </c:pt>
                <c:pt idx="5">
                  <c:v>0.054</c:v>
                </c:pt>
                <c:pt idx="6">
                  <c:v>0.0424</c:v>
                </c:pt>
                <c:pt idx="7">
                  <c:v>0.0424</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3"/>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Ganham mais de R$ 12 mil por mês, por cargo</a:t>
            </a:r>
          </a:p>
        </c:rich>
      </c:tx>
      <c:layout/>
      <c:overlay val="0"/>
    </c:title>
    <c:autoTitleDeleted val="0"/>
    <c:plotArea>
      <c:layout/>
      <c:barChart>
        <c:barDir val="bar"/>
        <c:grouping val="clustered"/>
        <c:varyColors val="0"/>
        <c:ser>
          <c:idx val="0"/>
          <c:order val="0"/>
          <c:tx>
            <c:strRef>
              <c:f>Sheet1!$B$1</c:f>
              <c:strCache>
                <c:ptCount val="1"/>
                <c:pt idx="0">
                  <c:v>Mais de R$ 12 mil</c:v>
                </c:pt>
              </c:strCache>
            </c:strRef>
          </c:tx>
          <c:spPr>
            <a:solidFill>
              <a:srgbClr val="14213D"/>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Sheet1!$A$2:$A$10</c:f>
              <c:strCache>
                <c:ptCount val="9"/>
                <c:pt idx="0">
                  <c:v>Engenheiro de ML/IA</c:v>
                </c:pt>
                <c:pt idx="1">
                  <c:v>Analytics Engineer</c:v>
                </c:pt>
                <c:pt idx="2">
                  <c:v>Engenheiro de Dados</c:v>
                </c:pt>
                <c:pt idx="3">
                  <c:v>Cientista de Dados</c:v>
                </c:pt>
                <c:pt idx="4">
                  <c:v>Dev/Eng. de Software</c:v>
                </c:pt>
                <c:pt idx="5">
                  <c:v>Analista de Dados</c:v>
                </c:pt>
                <c:pt idx="6">
                  <c:v>Analista de Negócios</c:v>
                </c:pt>
                <c:pt idx="7">
                  <c:v>Analista de BI</c:v>
                </c:pt>
                <c:pt idx="8">
                  <c:v>Analista de Suporte</c:v>
                </c:pt>
              </c:strCache>
            </c:strRef>
          </c:cat>
          <c:val>
            <c:numRef>
              <c:f>Sheet1!$B$2:$B$10</c:f>
              <c:numCache>
                <c:formatCode>0%</c:formatCode>
                <c:ptCount val="9"/>
                <c:pt idx="0">
                  <c:v>0.6415</c:v>
                </c:pt>
                <c:pt idx="1">
                  <c:v>0.5185</c:v>
                </c:pt>
                <c:pt idx="2">
                  <c:v>0.4975</c:v>
                </c:pt>
                <c:pt idx="3">
                  <c:v>0.461</c:v>
                </c:pt>
                <c:pt idx="4">
                  <c:v>0.4528</c:v>
                </c:pt>
                <c:pt idx="5">
                  <c:v>0.1753</c:v>
                </c:pt>
                <c:pt idx="6">
                  <c:v>0.1702</c:v>
                </c:pt>
                <c:pt idx="7">
                  <c:v>0.1302</c:v>
                </c:pt>
                <c:pt idx="8">
                  <c:v>0.1091</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Ganham mais de R$ 12 mil por mês, por nível</a:t>
            </a:r>
          </a:p>
        </c:rich>
      </c:tx>
      <c:layout/>
      <c:overlay val="0"/>
    </c:title>
    <c:autoTitleDeleted val="0"/>
    <c:plotArea>
      <c:layout/>
      <c:barChart>
        <c:barDir val="col"/>
        <c:grouping val="clustered"/>
        <c:varyColors val="0"/>
        <c:ser>
          <c:idx val="0"/>
          <c:order val="0"/>
          <c:tx>
            <c:strRef>
              <c:f>Sheet1!$B$1</c:f>
              <c:strCache>
                <c:ptCount val="1"/>
                <c:pt idx="0">
                  <c:v>Finanças/Bancos</c:v>
                </c:pt>
              </c:strCache>
            </c:strRef>
          </c:tx>
          <c:spPr>
            <a:solidFill>
              <a:srgbClr val="E8871E"/>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Sheet1!$A$2:$A$5</c:f>
              <c:strCache>
                <c:ptCount val="4"/>
                <c:pt idx="0">
                  <c:v>Júnior</c:v>
                </c:pt>
                <c:pt idx="1">
                  <c:v>Pleno</c:v>
                </c:pt>
                <c:pt idx="2">
                  <c:v>Sênior</c:v>
                </c:pt>
                <c:pt idx="3">
                  <c:v>Especialista/Staff+</c:v>
                </c:pt>
              </c:strCache>
            </c:strRef>
          </c:cat>
          <c:val>
            <c:numRef>
              <c:f>Sheet1!$B$2:$B$5</c:f>
              <c:numCache>
                <c:formatCode>0%</c:formatCode>
                <c:ptCount val="4"/>
                <c:pt idx="0">
                  <c:v>0.0309</c:v>
                </c:pt>
                <c:pt idx="1">
                  <c:v>0.0963</c:v>
                </c:pt>
                <c:pt idx="2">
                  <c:v>0.6114</c:v>
                </c:pt>
                <c:pt idx="3">
                  <c:v>0.8714</c:v>
                </c:pt>
              </c:numCache>
            </c:numRef>
          </c:val>
        </c:ser>
        <c:ser>
          <c:idx val="1"/>
          <c:order val="1"/>
          <c:tx>
            <c:strRef>
              <c:f>Sheet1!$C$1</c:f>
              <c:strCache>
                <c:ptCount val="1"/>
                <c:pt idx="0">
                  <c:v>Demais setores</c:v>
                </c:pt>
              </c:strCache>
            </c:strRef>
          </c:tx>
          <c:spPr>
            <a:solidFill>
              <a:srgbClr val="B8C0CC"/>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Sheet1!$A$2:$A$5</c:f>
              <c:strCache>
                <c:ptCount val="4"/>
                <c:pt idx="0">
                  <c:v>Júnior</c:v>
                </c:pt>
                <c:pt idx="1">
                  <c:v>Pleno</c:v>
                </c:pt>
                <c:pt idx="2">
                  <c:v>Sênior</c:v>
                </c:pt>
                <c:pt idx="3">
                  <c:v>Especialista/Staff+</c:v>
                </c:pt>
              </c:strCache>
            </c:strRef>
          </c:cat>
          <c:val>
            <c:numRef>
              <c:f>Sheet1!$C$2:$C$5</c:f>
              <c:numCache>
                <c:formatCode>0%</c:formatCode>
                <c:ptCount val="4"/>
                <c:pt idx="0">
                  <c:v>0.0119</c:v>
                </c:pt>
                <c:pt idx="1">
                  <c:v>0.1141</c:v>
                </c:pt>
                <c:pt idx="2">
                  <c:v>0.4947</c:v>
                </c:pt>
                <c:pt idx="3">
                  <c:v>0.828</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Participação de mulheres</a:t>
            </a:r>
          </a:p>
        </c:rich>
      </c:tx>
      <c:layout/>
      <c:overlay val="0"/>
    </c:title>
    <c:autoTitleDeleted val="0"/>
    <c:plotArea>
      <c:layout/>
      <c:barChart>
        <c:barDir val="col"/>
        <c:grouping val="clustered"/>
        <c:varyColors val="0"/>
        <c:ser>
          <c:idx val="0"/>
          <c:order val="0"/>
          <c:tx>
            <c:strRef>
              <c:f>Sheet1!$B$1</c:f>
              <c:strCache>
                <c:ptCount val="1"/>
                <c:pt idx="0">
                  <c:v>Finanças/Bancos</c:v>
                </c:pt>
              </c:strCache>
            </c:strRef>
          </c:tx>
          <c:spPr>
            <a:solidFill>
              <a:srgbClr val="E8871E"/>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Sheet1!$A$2:$A$4</c:f>
              <c:strCache>
                <c:ptCount val="3"/>
                <c:pt idx="0">
                  <c:v>2023-2024</c:v>
                </c:pt>
                <c:pt idx="1">
                  <c:v>2024-2025</c:v>
                </c:pt>
                <c:pt idx="2">
                  <c:v>2025-2026</c:v>
                </c:pt>
              </c:strCache>
            </c:strRef>
          </c:cat>
          <c:val>
            <c:numRef>
              <c:f>Sheet1!$B$2:$B$4</c:f>
              <c:numCache>
                <c:formatCode>0%</c:formatCode>
                <c:ptCount val="3"/>
                <c:pt idx="0">
                  <c:v>0.2373</c:v>
                </c:pt>
                <c:pt idx="1">
                  <c:v>0.2213</c:v>
                </c:pt>
                <c:pt idx="2">
                  <c:v>0.2559</c:v>
                </c:pt>
              </c:numCache>
            </c:numRef>
          </c:val>
        </c:ser>
        <c:ser>
          <c:idx val="1"/>
          <c:order val="1"/>
          <c:tx>
            <c:strRef>
              <c:f>Sheet1!$C$1</c:f>
              <c:strCache>
                <c:ptCount val="1"/>
                <c:pt idx="0">
                  <c:v>Demais setores</c:v>
                </c:pt>
              </c:strCache>
            </c:strRef>
          </c:tx>
          <c:spPr>
            <a:solidFill>
              <a:srgbClr val="B8C0CC"/>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Sheet1!$A$2:$A$4</c:f>
              <c:strCache>
                <c:ptCount val="3"/>
                <c:pt idx="0">
                  <c:v>2023-2024</c:v>
                </c:pt>
                <c:pt idx="1">
                  <c:v>2024-2025</c:v>
                </c:pt>
                <c:pt idx="2">
                  <c:v>2025-2026</c:v>
                </c:pt>
              </c:strCache>
            </c:strRef>
          </c:cat>
          <c:val>
            <c:numRef>
              <c:f>Sheet1!$C$2:$C$4</c:f>
              <c:numCache>
                <c:formatCode>0%</c:formatCode>
                <c:ptCount val="3"/>
                <c:pt idx="0">
                  <c:v>0.2329</c:v>
                </c:pt>
                <c:pt idx="1">
                  <c:v>0.2384</c:v>
                </c:pt>
                <c:pt idx="2">
                  <c:v>0.2084</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4"/>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Seniores que ganham mais de R$ 12 mil por mês</a:t>
            </a:r>
          </a:p>
        </c:rich>
      </c:tx>
      <c:layout/>
      <c:overlay val="0"/>
    </c:title>
    <c:autoTitleDeleted val="0"/>
    <c:plotArea>
      <c:layout/>
      <c:barChart>
        <c:barDir val="col"/>
        <c:grouping val="clustered"/>
        <c:varyColors val="0"/>
        <c:ser>
          <c:idx val="0"/>
          <c:order val="0"/>
          <c:tx>
            <c:strRef>
              <c:f>Sheet1!$B$1</c:f>
              <c:strCache>
                <c:ptCount val="1"/>
                <c:pt idx="0">
                  <c:v>Mulheres</c:v>
                </c:pt>
              </c:strCache>
            </c:strRef>
          </c:tx>
          <c:spPr>
            <a:solidFill>
              <a:srgbClr val="E8871E"/>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Sheet1!$A$2:$A$4</c:f>
              <c:strCache>
                <c:ptCount val="3"/>
                <c:pt idx="0">
                  <c:v>2023-2024</c:v>
                </c:pt>
                <c:pt idx="1">
                  <c:v>2024-2025</c:v>
                </c:pt>
                <c:pt idx="2">
                  <c:v>2025-2026</c:v>
                </c:pt>
              </c:strCache>
            </c:strRef>
          </c:cat>
          <c:val>
            <c:numRef>
              <c:f>Sheet1!$B$2:$B$4</c:f>
              <c:numCache>
                <c:formatCode>0%</c:formatCode>
                <c:ptCount val="3"/>
                <c:pt idx="0">
                  <c:v>0.4397</c:v>
                </c:pt>
                <c:pt idx="1">
                  <c:v>0.4627</c:v>
                </c:pt>
                <c:pt idx="2">
                  <c:v>0.4213</c:v>
                </c:pt>
              </c:numCache>
            </c:numRef>
          </c:val>
        </c:ser>
        <c:ser>
          <c:idx val="1"/>
          <c:order val="1"/>
          <c:tx>
            <c:strRef>
              <c:f>Sheet1!$C$1</c:f>
              <c:strCache>
                <c:ptCount val="1"/>
                <c:pt idx="0">
                  <c:v>Homens</c:v>
                </c:pt>
              </c:strCache>
            </c:strRef>
          </c:tx>
          <c:spPr>
            <a:solidFill>
              <a:srgbClr val="14213D"/>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Sheet1!$A$2:$A$4</c:f>
              <c:strCache>
                <c:ptCount val="3"/>
                <c:pt idx="0">
                  <c:v>2023-2024</c:v>
                </c:pt>
                <c:pt idx="1">
                  <c:v>2024-2025</c:v>
                </c:pt>
                <c:pt idx="2">
                  <c:v>2025-2026</c:v>
                </c:pt>
              </c:strCache>
            </c:strRef>
          </c:cat>
          <c:val>
            <c:numRef>
              <c:f>Sheet1!$C$2:$C$4</c:f>
              <c:numCache>
                <c:formatCode>0%</c:formatCode>
                <c:ptCount val="3"/>
                <c:pt idx="0">
                  <c:v>0.5108</c:v>
                </c:pt>
                <c:pt idx="1">
                  <c:v>0.5985</c:v>
                </c:pt>
                <c:pt idx="2">
                  <c:v>0.5496</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Modelo de trabalho atual e ideal, 2025-2026</a:t>
            </a:r>
          </a:p>
        </c:rich>
      </c:tx>
      <c:layout/>
      <c:overlay val="0"/>
    </c:title>
    <c:autoTitleDeleted val="0"/>
    <c:plotArea>
      <c:layout/>
      <c:barChart>
        <c:barDir val="col"/>
        <c:grouping val="clustered"/>
        <c:varyColors val="0"/>
        <c:ser>
          <c:idx val="0"/>
          <c:order val="0"/>
          <c:tx>
            <c:strRef>
              <c:f>Sheet1!$B$1</c:f>
              <c:strCache>
                <c:ptCount val="1"/>
                <c:pt idx="0">
                  <c:v>Como trabalham hoje</c:v>
                </c:pt>
              </c:strCache>
            </c:strRef>
          </c:tx>
          <c:spPr>
            <a:solidFill>
              <a:srgbClr val="B8C0CC"/>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Sheet1!$A$2:$A$5</c:f>
              <c:strCache>
                <c:ptCount val="4"/>
                <c:pt idx="0">
                  <c:v>100% remoto</c:v>
                </c:pt>
                <c:pt idx="1">
                  <c:v>Híbrido flexível</c:v>
                </c:pt>
                <c:pt idx="2">
                  <c:v>Híbrido com dias fixos</c:v>
                </c:pt>
                <c:pt idx="3">
                  <c:v>100% presencial</c:v>
                </c:pt>
              </c:strCache>
            </c:strRef>
          </c:cat>
          <c:val>
            <c:numRef>
              <c:f>Sheet1!$B$2:$B$5</c:f>
              <c:numCache>
                <c:formatCode>0%</c:formatCode>
                <c:ptCount val="4"/>
                <c:pt idx="0">
                  <c:v>0.397</c:v>
                </c:pt>
                <c:pt idx="1">
                  <c:v>0.1955</c:v>
                </c:pt>
                <c:pt idx="2">
                  <c:v>0.1999</c:v>
                </c:pt>
                <c:pt idx="3">
                  <c:v>0.2076</c:v>
                </c:pt>
              </c:numCache>
            </c:numRef>
          </c:val>
        </c:ser>
        <c:ser>
          <c:idx val="1"/>
          <c:order val="1"/>
          <c:tx>
            <c:strRef>
              <c:f>Sheet1!$C$1</c:f>
              <c:strCache>
                <c:ptCount val="1"/>
                <c:pt idx="0">
                  <c:v>Como gostariam</c:v>
                </c:pt>
              </c:strCache>
            </c:strRef>
          </c:tx>
          <c:spPr>
            <a:solidFill>
              <a:srgbClr val="E8871E"/>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Sheet1!$A$2:$A$5</c:f>
              <c:strCache>
                <c:ptCount val="4"/>
                <c:pt idx="0">
                  <c:v>100% remoto</c:v>
                </c:pt>
                <c:pt idx="1">
                  <c:v>Híbrido flexível</c:v>
                </c:pt>
                <c:pt idx="2">
                  <c:v>Híbrido com dias fixos</c:v>
                </c:pt>
                <c:pt idx="3">
                  <c:v>100% presencial</c:v>
                </c:pt>
              </c:strCache>
            </c:strRef>
          </c:cat>
          <c:val>
            <c:numRef>
              <c:f>Sheet1!$C$2:$C$5</c:f>
              <c:numCache>
                <c:formatCode>0%</c:formatCode>
                <c:ptCount val="4"/>
                <c:pt idx="0">
                  <c:v>0.4211</c:v>
                </c:pt>
                <c:pt idx="1">
                  <c:v>0.4298</c:v>
                </c:pt>
                <c:pt idx="2">
                  <c:v>0.1305</c:v>
                </c:pt>
                <c:pt idx="3">
                  <c:v>0.0186</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55"/>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Linguagem preferida, 2025-2026</a:t>
            </a:r>
          </a:p>
        </c:rich>
      </c:tx>
      <c:layout/>
      <c:overlay val="0"/>
    </c:title>
    <c:autoTitleDeleted val="0"/>
    <c:plotArea>
      <c:layout/>
      <c:barChart>
        <c:barDir val="bar"/>
        <c:grouping val="clustered"/>
        <c:varyColors val="0"/>
        <c:ser>
          <c:idx val="0"/>
          <c:order val="0"/>
          <c:tx>
            <c:strRef>
              <c:f>Sheet1!$B$1</c:f>
              <c:strCache>
                <c:ptCount val="1"/>
                <c:pt idx="0">
                  <c:v>Preferência</c:v>
                </c:pt>
              </c:strCache>
            </c:strRef>
          </c:tx>
          <c:spPr>
            <a:solidFill>
              <a:srgbClr val="14213D"/>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Sheet1!$A$2:$A$6</c:f>
              <c:strCache>
                <c:ptCount val="5"/>
                <c:pt idx="0">
                  <c:v>Python</c:v>
                </c:pt>
                <c:pt idx="1">
                  <c:v>SQL</c:v>
                </c:pt>
                <c:pt idx="2">
                  <c:v>R</c:v>
                </c:pt>
                <c:pt idx="3">
                  <c:v>Scala</c:v>
                </c:pt>
                <c:pt idx="4">
                  <c:v>C/C++/C#</c:v>
                </c:pt>
              </c:strCache>
            </c:strRef>
          </c:cat>
          <c:val>
            <c:numRef>
              <c:f>Sheet1!$B$2:$B$6</c:f>
              <c:numCache>
                <c:formatCode>0%</c:formatCode>
                <c:ptCount val="5"/>
                <c:pt idx="0">
                  <c:v>0.9203</c:v>
                </c:pt>
                <c:pt idx="1">
                  <c:v>0.8415</c:v>
                </c:pt>
                <c:pt idx="2">
                  <c:v>0.1561</c:v>
                </c:pt>
                <c:pt idx="3">
                  <c:v>0.0334</c:v>
                </c:pt>
                <c:pt idx="4">
                  <c:v>0.0234</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Cloud usada no trabalho, 2025-2026</a:t>
            </a:r>
          </a:p>
        </c:rich>
      </c:tx>
      <c:layout/>
      <c:overlay val="0"/>
    </c:title>
    <c:autoTitleDeleted val="0"/>
    <c:plotArea>
      <c:layout/>
      <c:barChart>
        <c:barDir val="col"/>
        <c:grouping val="clustered"/>
        <c:varyColors val="0"/>
        <c:ser>
          <c:idx val="0"/>
          <c:order val="0"/>
          <c:tx>
            <c:strRef>
              <c:f>Sheet1!$B$1</c:f>
              <c:strCache>
                <c:ptCount val="1"/>
                <c:pt idx="0">
                  <c:v>Finanças/Bancos</c:v>
                </c:pt>
              </c:strCache>
            </c:strRef>
          </c:tx>
          <c:spPr>
            <a:solidFill>
              <a:srgbClr val="E8871E"/>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Sheet1!$A$2:$A$5</c:f>
              <c:strCache>
                <c:ptCount val="4"/>
                <c:pt idx="0">
                  <c:v>AWS</c:v>
                </c:pt>
                <c:pt idx="1">
                  <c:v>Azure</c:v>
                </c:pt>
                <c:pt idx="2">
                  <c:v>Google Cloud</c:v>
                </c:pt>
                <c:pt idx="3">
                  <c:v>On premise / sem cloud</c:v>
                </c:pt>
              </c:strCache>
            </c:strRef>
          </c:cat>
          <c:val>
            <c:numRef>
              <c:f>Sheet1!$B$2:$B$5</c:f>
              <c:numCache>
                <c:formatCode>0%</c:formatCode>
                <c:ptCount val="4"/>
                <c:pt idx="0">
                  <c:v>0.6768</c:v>
                </c:pt>
                <c:pt idx="1">
                  <c:v>0.281</c:v>
                </c:pt>
                <c:pt idx="2">
                  <c:v>0.1639</c:v>
                </c:pt>
                <c:pt idx="3">
                  <c:v>0.096</c:v>
                </c:pt>
              </c:numCache>
            </c:numRef>
          </c:val>
        </c:ser>
        <c:ser>
          <c:idx val="1"/>
          <c:order val="1"/>
          <c:tx>
            <c:strRef>
              <c:f>Sheet1!$C$1</c:f>
              <c:strCache>
                <c:ptCount val="1"/>
                <c:pt idx="0">
                  <c:v>Demais setores</c:v>
                </c:pt>
              </c:strCache>
            </c:strRef>
          </c:tx>
          <c:spPr>
            <a:solidFill>
              <a:srgbClr val="B8C0CC"/>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Sheet1!$A$2:$A$5</c:f>
              <c:strCache>
                <c:ptCount val="4"/>
                <c:pt idx="0">
                  <c:v>AWS</c:v>
                </c:pt>
                <c:pt idx="1">
                  <c:v>Azure</c:v>
                </c:pt>
                <c:pt idx="2">
                  <c:v>Google Cloud</c:v>
                </c:pt>
                <c:pt idx="3">
                  <c:v>On premise / sem cloud</c:v>
                </c:pt>
              </c:strCache>
            </c:strRef>
          </c:cat>
          <c:val>
            <c:numRef>
              <c:f>Sheet1!$C$2:$C$5</c:f>
              <c:numCache>
                <c:formatCode>0%</c:formatCode>
                <c:ptCount val="4"/>
                <c:pt idx="0">
                  <c:v>0.4329</c:v>
                </c:pt>
                <c:pt idx="1">
                  <c:v>0.3657</c:v>
                </c:pt>
                <c:pt idx="2">
                  <c:v>0.3459</c:v>
                </c:pt>
                <c:pt idx="3">
                  <c:v>0.1553</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Estágio dos projetos de IA na empresa</a:t>
            </a:r>
          </a:p>
        </c:rich>
      </c:tx>
      <c:layout/>
      <c:overlay val="0"/>
    </c:title>
    <c:autoTitleDeleted val="0"/>
    <c:plotArea>
      <c:layout/>
      <c:barChart>
        <c:barDir val="bar"/>
        <c:grouping val="clustered"/>
        <c:varyColors val="0"/>
        <c:ser>
          <c:idx val="0"/>
          <c:order val="0"/>
          <c:tx>
            <c:strRef>
              <c:f>Sheet1!$B$1</c:f>
              <c:strCache>
                <c:ptCount val="1"/>
                <c:pt idx="0">
                  <c:v>Finanças/Bancos</c:v>
                </c:pt>
              </c:strCache>
            </c:strRef>
          </c:tx>
          <c:spPr>
            <a:solidFill>
              <a:srgbClr val="E8871E"/>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Sheet1!$A$2:$A$6</c:f>
              <c:strCache>
                <c:ptCount val="5"/>
                <c:pt idx="0">
                  <c:v>Em produção, com impacto</c:v>
                </c:pt>
                <c:pt idx="1">
                  <c:v>Pilotos, pouco impacto</c:v>
                </c:pt>
                <c:pt idx="2">
                  <c:v>Em planejamento</c:v>
                </c:pt>
                <c:pt idx="3">
                  <c:v>Nenhum projeto</c:v>
                </c:pt>
                <c:pt idx="4">
                  <c:v>Não sabe</c:v>
                </c:pt>
              </c:strCache>
            </c:strRef>
          </c:cat>
          <c:val>
            <c:numRef>
              <c:f>Sheet1!$B$2:$B$6</c:f>
              <c:numCache>
                <c:formatCode>0%</c:formatCode>
                <c:ptCount val="5"/>
                <c:pt idx="0">
                  <c:v>0.3608</c:v>
                </c:pt>
                <c:pt idx="1">
                  <c:v>0.433</c:v>
                </c:pt>
                <c:pt idx="2">
                  <c:v>0.0619</c:v>
                </c:pt>
                <c:pt idx="3">
                  <c:v>0.0722</c:v>
                </c:pt>
                <c:pt idx="4">
                  <c:v>0.0722</c:v>
                </c:pt>
              </c:numCache>
            </c:numRef>
          </c:val>
        </c:ser>
        <c:ser>
          <c:idx val="1"/>
          <c:order val="1"/>
          <c:tx>
            <c:strRef>
              <c:f>Sheet1!$C$1</c:f>
              <c:strCache>
                <c:ptCount val="1"/>
                <c:pt idx="0">
                  <c:v>Demais setores</c:v>
                </c:pt>
              </c:strCache>
            </c:strRef>
          </c:tx>
          <c:spPr>
            <a:solidFill>
              <a:srgbClr val="B8C0CC"/>
            </a:solidFill>
            <a:effectLst/>
          </c:spPr>
          <c:invertIfNegative val="0"/>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strRef>
              <c:f>Sheet1!$A$2:$A$6</c:f>
              <c:strCache>
                <c:ptCount val="5"/>
                <c:pt idx="0">
                  <c:v>Em produção, com impacto</c:v>
                </c:pt>
                <c:pt idx="1">
                  <c:v>Pilotos, pouco impacto</c:v>
                </c:pt>
                <c:pt idx="2">
                  <c:v>Em planejamento</c:v>
                </c:pt>
                <c:pt idx="3">
                  <c:v>Nenhum projeto</c:v>
                </c:pt>
                <c:pt idx="4">
                  <c:v>Não sabe</c:v>
                </c:pt>
              </c:strCache>
            </c:strRef>
          </c:cat>
          <c:val>
            <c:numRef>
              <c:f>Sheet1!$C$2:$C$6</c:f>
              <c:numCache>
                <c:formatCode>0%</c:formatCode>
                <c:ptCount val="5"/>
                <c:pt idx="0">
                  <c:v>0.2477</c:v>
                </c:pt>
                <c:pt idx="1">
                  <c:v>0.3752</c:v>
                </c:pt>
                <c:pt idx="2">
                  <c:v>0.1658</c:v>
                </c:pt>
                <c:pt idx="3">
                  <c:v>0.1457</c:v>
                </c:pt>
                <c:pt idx="4">
                  <c:v>0.0656</c:v>
                </c:pt>
              </c:numCache>
            </c:numRef>
          </c:val>
        </c:ser>
        <c:dLbls>
          <c:numFmt formatCode="0%"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5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o Grupo 18. Neste trabalho fizemos o papel de uma consultoria de dados contratada por um grande banco que quer expandir sua área de Dados e IA. Em cinco minutos vamos mostrar o que o mercado diz e o que recomendamos.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banco tem três decisões pela frente: quem contratar, no que capacitar o time e onde investir em tecnologia. Para responder, usamos a State of Data Brasil, da Data Hackers com a Bain, nas três últimas edições. Vale lembrar que cada edição ouviu pessoas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 liderança guardar só quatro coisas, são estas: a IA virou rotina; os bancos estão à frente em levar IA para produção; o que trava não é tecnologia, é gente e dados; e talento sênior custa caro e quer flexibilidade. Os próximos slides mostram de onde vem cada 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Montamos tudo na AWS. O arquivo original fica intacto no Bronze, o Glue com Spark limpa e padroniza, e a camada Gold entrega os indicadores prontos, consultados pelo Athena. Assim todos os números da apresentação saem da mesma fonte.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mercado tem um núcleo claro: analistas, cientistas e engenheiros de dados. Quase metade é sênior ou especialista, e dois terços estão no Sudeste. Para o banco, isso quer dizer que a disputa por talentos acontece principalmente no eixo Sul-Sudeste.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cargos de engenharia e ciência são os mais bem pagos: de quase metade a dois terços ganham mais de 12 mil por mês, contra menos de 20% nos cargos de análise. O grande salto acontece do Pleno para o Sênior, e nesse nível os bancos pagam acima do mercado. Na região, a diferença vem mais do perfil de quem mora lá do que do salário de cada nível.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Mulheres são pouco mais de um em cada cinco profissionais, e isso quase não mudou em três anos. Mesmo comparando só seniores, elas aparecem menos nas faixas acima de 12 mil. Não dá para apontar uma causa única, mas é um sinal claro para o banco olhar a própria equidade salarial.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está um desencontro claro: quase metade quer o híbrido flexível, mas só um em cada cinco trabalha assim. Na hora de escolher emprego, salário vem primeiro, e logo depois vem flexibilidade. Para o banco, flexibilidade é uma forma barata de competir por talentos.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e SQL são praticamente universais. Na cloud, a AWS lidera, e nos bancos ela pesa ainda mais: dois terços dos profissionais usam, e isso se repete nas três edições. Por isso Python, SQL e AWS são a base natural de uma trilha de capacitação, sem abandonar Azure e Google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IA virou rotina: praticamente todo mundo usa, e as empresas passaram a pagar pela ferramenta, com os bancos na frente. Os bancos também têm mais projetos em produção gerando resultado, mas a maioria ainda está em piloto. E o que trava não é tecnologia: é falta de gente preparada e de dados prontos. A cobrança por retorno quase dobrou.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Fechando com as recomendações. Contratar com foco nos perfis de engenharia e com orçamento realista para seniores. Capacitar o time numa base comum de Python, SQL, AWS e IA aplicada. E investir em deixar os dados prontos para IA, porque é aí que está o gargalo. Lembrando que a pesquisa retrata quem respondeu, não o mercado inteiro. Obrigado, ficamos à disposição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11094415" cy="41148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1874520"/>
            <a:ext cx="1024128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114800"/>
            <a:ext cx="9601200" cy="109728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U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2"/>
                </a:solidFill>
              </a:rPr>
              <a:t>Fonte: State of Data Brasil (Data Hackers e Bain), edições 2023-2024, 2024-2025 e 2025-2026. Elaboração: Grupo 18.</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ECHO">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3"/>
                </a:solidFill>
              </a:rPr>
              <a:t>Fonte: State of Data Brasil (Data Hackers e Bain), edições 2023-2024, 2024-2025 e 2025-2026. Elaboração: Grupo 18.</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11094415" cy="411480"/>
          </a:xfrm>
          <a:prstGeom prst="rect">
            <a:avLst/>
          </a:prstGeom>
          <a:noFill/>
          <a:ln/>
        </p:spPr>
        <p:txBody>
          <a:bodyPr wrap="square" lIns="0" tIns="0" rIns="0" bIns="0" rtlCol="0"/>
          <a:lstStyle/>
          <a:p>
            <a:pPr indent="0" marL="0">
              <a:buNone/>
            </a:pPr>
            <a:r>
              <a:rPr lang="en-US" sz="1400" b="1" spc="200" kern="0" dirty="0">
                <a:solidFill>
                  <a:schemeClr val="accent1"/>
                </a:solidFill>
              </a:rPr>
              <a:t>TECH CHALLENGE  ·  FASE 3  ·  GRUPO 18</a:t>
            </a:r>
            <a:endParaRPr lang="en-US" sz="1400" dirty="0"/>
          </a:p>
        </p:txBody>
      </p:sp>
      <p:sp>
        <p:nvSpPr>
          <p:cNvPr id="3" name="Text 0"/>
          <p:cNvSpPr/>
          <p:nvPr>
            <p:ph idx="101" type="title" hasCustomPrompt="1"/>
          </p:nvPr>
        </p:nvSpPr>
        <p:spPr>
          <a:xfrm>
            <a:off x="548640" y="1874520"/>
            <a:ext cx="10241280" cy="2011680"/>
          </a:xfrm>
          <a:prstGeom prst="rect">
            <a:avLst/>
          </a:prstGeom>
          <a:noFill/>
          <a:ln/>
        </p:spPr>
        <p:txBody>
          <a:bodyPr wrap="square" lIns="0" tIns="0" rIns="0" bIns="0" rtlCol="0" anchor="t"/>
          <a:lstStyle/>
          <a:p>
            <a:pPr algn="l" indent="0" marL="0">
              <a:buNone/>
            </a:pPr>
            <a:r>
              <a:rPr lang="en-US" sz="4000" b="1" dirty="0">
                <a:solidFill>
                  <a:schemeClr val="bg1"/>
                </a:solidFill>
              </a:rPr>
              <a:t>O mercado brasileiro de Dados e IA: o que um banco precisa saber para contratar, capacitar e investir</a:t>
            </a:r>
            <a:endParaRPr lang="en-US" sz="4000" dirty="0"/>
          </a:p>
        </p:txBody>
      </p:sp>
      <p:sp>
        <p:nvSpPr>
          <p:cNvPr id="4" name="Text 0"/>
          <p:cNvSpPr/>
          <p:nvPr>
            <p:ph idx="102" type="body" hasCustomPrompt="1"/>
          </p:nvPr>
        </p:nvSpPr>
        <p:spPr>
          <a:xfrm>
            <a:off x="548640" y="4114800"/>
            <a:ext cx="9601200" cy="1097280"/>
          </a:xfrm>
          <a:prstGeom prst="rect">
            <a:avLst/>
          </a:prstGeom>
          <a:noFill/>
          <a:ln/>
        </p:spPr>
        <p:txBody>
          <a:bodyPr wrap="square" lIns="0" tIns="0" rIns="0" bIns="0" rtlCol="0" anchor="t"/>
          <a:lstStyle/>
          <a:p>
            <a:pPr indent="0" marL="0">
              <a:spcAft>
                <a:spcPts val="1000"/>
              </a:spcAft>
              <a:buNone/>
            </a:pPr>
            <a:r>
              <a:rPr lang="en-US" sz="1500" dirty="0">
                <a:solidFill>
                  <a:schemeClr val="bg1"/>
                </a:solidFill>
              </a:rPr>
              <a:t>Arthur Luna da Silva   ·   Isaque da Silva Lacerda   ·   Natália Vartuli Cordeiro Boletig   ·   Paulo Emanuel de Souza Coutinho</a:t>
            </a:r>
            <a:endParaRPr lang="en-US" sz="1800" dirty="0"/>
          </a:p>
          <a:p>
            <a:pPr indent="0" marL="0">
              <a:buNone/>
            </a:pPr>
            <a:r>
              <a:rPr lang="en-US" sz="1400" dirty="0">
                <a:solidFill>
                  <a:schemeClr val="accent3"/>
                </a:solidFill>
              </a:rPr>
              <a:t>Pós-Graduação em Data Analytics  ·  FIAP  ·  Outubro/2026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CONTEXTO E OBJETIVO</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Um banco quer crescer em Dados e IA e precisa decidir onde colocar o esforço</a:t>
            </a:r>
            <a:endParaRPr lang="en-US" sz="2800" dirty="0"/>
          </a:p>
        </p:txBody>
      </p:sp>
      <p:sp>
        <p:nvSpPr>
          <p:cNvPr id="4" name="Decisão Contratar"/>
          <p:cNvSpPr/>
          <p:nvPr/>
        </p:nvSpPr>
        <p:spPr>
          <a:xfrm>
            <a:off x="548640" y="1874520"/>
            <a:ext cx="3520440" cy="2743200"/>
          </a:xfrm>
          <a:prstGeom prst="roundRect">
            <a:avLst>
              <a:gd name="adj" fmla="val 2667"/>
            </a:avLst>
          </a:prstGeom>
          <a:solidFill>
            <a:schemeClr val="bg2"/>
          </a:solidFill>
          <a:ln w="12700">
            <a:solidFill>
              <a:schemeClr val="bg2"/>
            </a:solidFill>
            <a:prstDash val="solid"/>
          </a:ln>
        </p:spPr>
      </p:sp>
      <p:sp>
        <p:nvSpPr>
          <p:cNvPr id="5" name="Marcador 1"/>
          <p:cNvSpPr/>
          <p:nvPr/>
        </p:nvSpPr>
        <p:spPr>
          <a:xfrm>
            <a:off x="822960" y="2148840"/>
            <a:ext cx="502920" cy="502920"/>
          </a:xfrm>
          <a:prstGeom prst="ellipse">
            <a:avLst/>
          </a:prstGeom>
          <a:solidFill>
            <a:schemeClr val="accent1"/>
          </a:solidFill>
          <a:ln w="12700">
            <a:solidFill>
              <a:schemeClr val="accent1"/>
            </a:solidFill>
            <a:prstDash val="solid"/>
          </a:ln>
        </p:spPr>
      </p:sp>
      <p:sp>
        <p:nvSpPr>
          <p:cNvPr id="6" name="Número 1"/>
          <p:cNvSpPr txBox="1"/>
          <p:nvPr/>
        </p:nvSpPr>
        <p:spPr>
          <a:xfrm>
            <a:off x="822960" y="2148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822960" y="2788920"/>
            <a:ext cx="297180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Contratar</a:t>
            </a:r>
            <a:endParaRPr lang="en-US" sz="2200" dirty="0"/>
          </a:p>
        </p:txBody>
      </p:sp>
      <p:sp>
        <p:nvSpPr>
          <p:cNvPr id="8" name="Text 6"/>
          <p:cNvSpPr txBox="1"/>
          <p:nvPr/>
        </p:nvSpPr>
        <p:spPr>
          <a:xfrm>
            <a:off x="822960" y="3291840"/>
            <a:ext cx="2971800" cy="1188720"/>
          </a:xfrm>
          <a:prstGeom prst="rect">
            <a:avLst/>
          </a:prstGeom>
          <a:noFill/>
          <a:ln/>
        </p:spPr>
        <p:txBody>
          <a:bodyPr wrap="square" lIns="0" tIns="0" rIns="0" bIns="0" rtlCol="0" anchor="t"/>
          <a:lstStyle/>
          <a:p>
            <a:pPr indent="0" marL="0">
              <a:buNone/>
            </a:pPr>
            <a:r>
              <a:rPr lang="en-US" sz="1600" dirty="0">
                <a:solidFill>
                  <a:schemeClr val="tx1"/>
                </a:solidFill>
              </a:rPr>
              <a:t>Quais perfis são mais disputados, quanto custam e o que atrai esses profissionais.</a:t>
            </a:r>
            <a:endParaRPr lang="en-US" sz="1600" dirty="0"/>
          </a:p>
        </p:txBody>
      </p:sp>
      <p:sp>
        <p:nvSpPr>
          <p:cNvPr id="9" name="Decisão Capacitar"/>
          <p:cNvSpPr/>
          <p:nvPr/>
        </p:nvSpPr>
        <p:spPr>
          <a:xfrm>
            <a:off x="4370832" y="1874520"/>
            <a:ext cx="3520440" cy="2743200"/>
          </a:xfrm>
          <a:prstGeom prst="roundRect">
            <a:avLst>
              <a:gd name="adj" fmla="val 2667"/>
            </a:avLst>
          </a:prstGeom>
          <a:solidFill>
            <a:schemeClr val="bg2"/>
          </a:solidFill>
          <a:ln w="12700">
            <a:solidFill>
              <a:schemeClr val="bg2"/>
            </a:solidFill>
            <a:prstDash val="solid"/>
          </a:ln>
        </p:spPr>
      </p:sp>
      <p:sp>
        <p:nvSpPr>
          <p:cNvPr id="10" name="Marcador 2"/>
          <p:cNvSpPr/>
          <p:nvPr/>
        </p:nvSpPr>
        <p:spPr>
          <a:xfrm>
            <a:off x="4645152" y="2148840"/>
            <a:ext cx="502920" cy="502920"/>
          </a:xfrm>
          <a:prstGeom prst="ellipse">
            <a:avLst/>
          </a:prstGeom>
          <a:solidFill>
            <a:schemeClr val="accent1"/>
          </a:solidFill>
          <a:ln w="12700">
            <a:solidFill>
              <a:schemeClr val="accent1"/>
            </a:solidFill>
            <a:prstDash val="solid"/>
          </a:ln>
        </p:spPr>
      </p:sp>
      <p:sp>
        <p:nvSpPr>
          <p:cNvPr id="11" name="Número 2"/>
          <p:cNvSpPr txBox="1"/>
          <p:nvPr/>
        </p:nvSpPr>
        <p:spPr>
          <a:xfrm>
            <a:off x="4645152" y="2148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4645152" y="2788920"/>
            <a:ext cx="297180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Capacitar</a:t>
            </a:r>
            <a:endParaRPr lang="en-US" sz="2200" dirty="0"/>
          </a:p>
        </p:txBody>
      </p:sp>
      <p:sp>
        <p:nvSpPr>
          <p:cNvPr id="13" name="Text 11"/>
          <p:cNvSpPr txBox="1"/>
          <p:nvPr/>
        </p:nvSpPr>
        <p:spPr>
          <a:xfrm>
            <a:off x="4645152" y="3291840"/>
            <a:ext cx="2971800" cy="1188720"/>
          </a:xfrm>
          <a:prstGeom prst="rect">
            <a:avLst/>
          </a:prstGeom>
          <a:noFill/>
          <a:ln/>
        </p:spPr>
        <p:txBody>
          <a:bodyPr wrap="square" lIns="0" tIns="0" rIns="0" bIns="0" rtlCol="0" anchor="t"/>
          <a:lstStyle/>
          <a:p>
            <a:pPr indent="0" marL="0">
              <a:buNone/>
            </a:pPr>
            <a:r>
              <a:rPr lang="en-US" sz="1600" dirty="0">
                <a:solidFill>
                  <a:schemeClr val="tx1"/>
                </a:solidFill>
              </a:rPr>
              <a:t>Quais linguagens e ferramentas formam a base do time e onde investir em treinamento.</a:t>
            </a:r>
            <a:endParaRPr lang="en-US" sz="1600" dirty="0"/>
          </a:p>
        </p:txBody>
      </p:sp>
      <p:sp>
        <p:nvSpPr>
          <p:cNvPr id="14" name="Decisão Investir"/>
          <p:cNvSpPr/>
          <p:nvPr/>
        </p:nvSpPr>
        <p:spPr>
          <a:xfrm>
            <a:off x="8193024" y="1874520"/>
            <a:ext cx="3520440" cy="2743200"/>
          </a:xfrm>
          <a:prstGeom prst="roundRect">
            <a:avLst>
              <a:gd name="adj" fmla="val 2667"/>
            </a:avLst>
          </a:prstGeom>
          <a:solidFill>
            <a:schemeClr val="bg2"/>
          </a:solidFill>
          <a:ln w="12700">
            <a:solidFill>
              <a:schemeClr val="bg2"/>
            </a:solidFill>
            <a:prstDash val="solid"/>
          </a:ln>
        </p:spPr>
      </p:sp>
      <p:sp>
        <p:nvSpPr>
          <p:cNvPr id="15" name="Marcador 3"/>
          <p:cNvSpPr/>
          <p:nvPr/>
        </p:nvSpPr>
        <p:spPr>
          <a:xfrm>
            <a:off x="8467344" y="2148840"/>
            <a:ext cx="502920" cy="502920"/>
          </a:xfrm>
          <a:prstGeom prst="ellipse">
            <a:avLst/>
          </a:prstGeom>
          <a:solidFill>
            <a:schemeClr val="accent1"/>
          </a:solidFill>
          <a:ln w="12700">
            <a:solidFill>
              <a:schemeClr val="accent1"/>
            </a:solidFill>
            <a:prstDash val="solid"/>
          </a:ln>
        </p:spPr>
      </p:sp>
      <p:sp>
        <p:nvSpPr>
          <p:cNvPr id="16" name="Número 3"/>
          <p:cNvSpPr txBox="1"/>
          <p:nvPr/>
        </p:nvSpPr>
        <p:spPr>
          <a:xfrm>
            <a:off x="8467344" y="2148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8467344" y="2788920"/>
            <a:ext cx="297180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Investir</a:t>
            </a:r>
            <a:endParaRPr lang="en-US" sz="2200" dirty="0"/>
          </a:p>
        </p:txBody>
      </p:sp>
      <p:sp>
        <p:nvSpPr>
          <p:cNvPr id="18" name="Text 16"/>
          <p:cNvSpPr txBox="1"/>
          <p:nvPr/>
        </p:nvSpPr>
        <p:spPr>
          <a:xfrm>
            <a:off x="8467344" y="3291840"/>
            <a:ext cx="2971800" cy="1188720"/>
          </a:xfrm>
          <a:prstGeom prst="rect">
            <a:avLst/>
          </a:prstGeom>
          <a:noFill/>
          <a:ln/>
        </p:spPr>
        <p:txBody>
          <a:bodyPr wrap="square" lIns="0" tIns="0" rIns="0" bIns="0" rtlCol="0" anchor="t"/>
          <a:lstStyle/>
          <a:p>
            <a:pPr indent="0" marL="0">
              <a:buNone/>
            </a:pPr>
            <a:r>
              <a:rPr lang="en-US" sz="1600" dirty="0">
                <a:solidFill>
                  <a:schemeClr val="tx1"/>
                </a:solidFill>
              </a:rPr>
              <a:t>Em que ponto está a IA, onde já traz resultado e o que ainda trava.</a:t>
            </a:r>
            <a:endParaRPr lang="en-US" sz="1600" dirty="0"/>
          </a:p>
        </p:txBody>
      </p:sp>
      <p:sp>
        <p:nvSpPr>
          <p:cNvPr id="19" name="Base de dados"/>
          <p:cNvSpPr txBox="1"/>
          <p:nvPr/>
        </p:nvSpPr>
        <p:spPr>
          <a:xfrm>
            <a:off x="548640" y="4892040"/>
            <a:ext cx="11094415" cy="731520"/>
          </a:xfrm>
          <a:prstGeom prst="rect">
            <a:avLst/>
          </a:prstGeom>
          <a:noFill/>
          <a:ln/>
        </p:spPr>
        <p:txBody>
          <a:bodyPr wrap="square" lIns="0" tIns="0" rIns="0" bIns="0" rtlCol="0" anchor="ctr"/>
          <a:lstStyle/>
          <a:p>
            <a:pPr indent="0" marL="0">
              <a:buNone/>
            </a:pPr>
            <a:r>
              <a:rPr lang="en-US" sz="1500" b="1" dirty="0">
                <a:solidFill>
                  <a:schemeClr val="tx2"/>
                </a:solidFill>
              </a:rPr>
              <a:t>De onde vêm os dados: </a:t>
            </a:r>
            <a:pPr indent="0" marL="0">
              <a:buNone/>
            </a:pPr>
            <a:r>
              <a:rPr lang="en-US" sz="1500" dirty="0">
                <a:solidFill>
                  <a:schemeClr val="tx1"/>
                </a:solidFill>
              </a:rPr>
              <a:t>as três últimas edições da pesquisa State of Data Brasil, com 14.002 respostas no total. Cada edição ouviu um grupo diferente de pessoas, então comparamos retratos, não as mesmas pessoas ao longo do tempo.</a:t>
            </a:r>
            <a:endParaRPr lang="en-US" sz="1500" dirty="0"/>
          </a:p>
        </p:txBody>
      </p:sp>
      <p:sp>
        <p:nvSpPr>
          <p:cNvPr id="20" name="Bas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Respostas válidas por edição, após remover duplicatas: 5.293 (2023-2024), 5.215 (2024-2025) e 3.494 (2025-2026).</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RESUMO EXECUTIVO</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Quatro mensagens para a liderança</a:t>
            </a:r>
            <a:endParaRPr lang="en-US" sz="2800" dirty="0"/>
          </a:p>
        </p:txBody>
      </p:sp>
      <p:sp>
        <p:nvSpPr>
          <p:cNvPr id="4" name="Mensagem 1"/>
          <p:cNvSpPr/>
          <p:nvPr/>
        </p:nvSpPr>
        <p:spPr>
          <a:xfrm>
            <a:off x="548640" y="1783080"/>
            <a:ext cx="5413248" cy="2057400"/>
          </a:xfrm>
          <a:prstGeom prst="roundRect">
            <a:avLst>
              <a:gd name="adj" fmla="val 3556"/>
            </a:avLst>
          </a:prstGeom>
          <a:solidFill>
            <a:schemeClr val="bg2"/>
          </a:solidFill>
          <a:ln w="12700">
            <a:solidFill>
              <a:schemeClr val="bg2"/>
            </a:solidFill>
            <a:prstDash val="solid"/>
          </a:ln>
        </p:spPr>
      </p:sp>
      <p:sp>
        <p:nvSpPr>
          <p:cNvPr id="5" name="Número destaque"/>
          <p:cNvSpPr txBox="1"/>
          <p:nvPr/>
        </p:nvSpPr>
        <p:spPr>
          <a:xfrm>
            <a:off x="822960" y="2057400"/>
            <a:ext cx="16002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98%</a:t>
            </a:r>
            <a:endParaRPr lang="en-US" sz="4000" dirty="0"/>
          </a:p>
        </p:txBody>
      </p:sp>
      <p:sp>
        <p:nvSpPr>
          <p:cNvPr id="6" name="Text 4"/>
          <p:cNvSpPr txBox="1"/>
          <p:nvPr/>
        </p:nvSpPr>
        <p:spPr>
          <a:xfrm>
            <a:off x="2514600" y="2057400"/>
            <a:ext cx="3200400" cy="685800"/>
          </a:xfrm>
          <a:prstGeom prst="rect">
            <a:avLst/>
          </a:prstGeom>
          <a:noFill/>
          <a:ln/>
        </p:spPr>
        <p:txBody>
          <a:bodyPr wrap="square" lIns="0" tIns="0" rIns="0" bIns="0" rtlCol="0" anchor="t"/>
          <a:lstStyle/>
          <a:p>
            <a:pPr indent="0" marL="0">
              <a:buNone/>
            </a:pPr>
            <a:r>
              <a:rPr lang="en-US" sz="1800" b="1" dirty="0">
                <a:solidFill>
                  <a:schemeClr val="tx2"/>
                </a:solidFill>
              </a:rPr>
              <a:t>A IA virou rotina</a:t>
            </a:r>
            <a:endParaRPr lang="en-US" sz="1800" dirty="0"/>
          </a:p>
        </p:txBody>
      </p:sp>
      <p:sp>
        <p:nvSpPr>
          <p:cNvPr id="7" name="Text 5"/>
          <p:cNvSpPr txBox="1"/>
          <p:nvPr/>
        </p:nvSpPr>
        <p:spPr>
          <a:xfrm>
            <a:off x="822960" y="2880360"/>
            <a:ext cx="4892040" cy="868680"/>
          </a:xfrm>
          <a:prstGeom prst="rect">
            <a:avLst/>
          </a:prstGeom>
          <a:noFill/>
          <a:ln/>
        </p:spPr>
        <p:txBody>
          <a:bodyPr wrap="square" lIns="0" tIns="0" rIns="0" bIns="0" rtlCol="0" anchor="t"/>
          <a:lstStyle/>
          <a:p>
            <a:pPr indent="0" marL="0">
              <a:buNone/>
            </a:pPr>
            <a:r>
              <a:rPr lang="en-US" sz="1400" dirty="0">
                <a:solidFill>
                  <a:schemeClr val="tx1"/>
                </a:solidFill>
              </a:rPr>
              <a:t>98% dos profissionais já usam IA generativa, contra 81% dois anos antes. Nos bancos, 56% já têm a ferramenta paga pela empresa.</a:t>
            </a:r>
            <a:endParaRPr lang="en-US" sz="1400" dirty="0"/>
          </a:p>
        </p:txBody>
      </p:sp>
      <p:sp>
        <p:nvSpPr>
          <p:cNvPr id="8" name="Mensagem 2"/>
          <p:cNvSpPr/>
          <p:nvPr/>
        </p:nvSpPr>
        <p:spPr>
          <a:xfrm>
            <a:off x="6217920" y="1783080"/>
            <a:ext cx="5413248" cy="2057400"/>
          </a:xfrm>
          <a:prstGeom prst="roundRect">
            <a:avLst>
              <a:gd name="adj" fmla="val 3556"/>
            </a:avLst>
          </a:prstGeom>
          <a:solidFill>
            <a:schemeClr val="bg2"/>
          </a:solidFill>
          <a:ln w="12700">
            <a:solidFill>
              <a:schemeClr val="bg2"/>
            </a:solidFill>
            <a:prstDash val="solid"/>
          </a:ln>
        </p:spPr>
      </p:sp>
      <p:sp>
        <p:nvSpPr>
          <p:cNvPr id="9" name="Número destaque"/>
          <p:cNvSpPr txBox="1"/>
          <p:nvPr/>
        </p:nvSpPr>
        <p:spPr>
          <a:xfrm>
            <a:off x="6492240" y="2057400"/>
            <a:ext cx="16002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36%</a:t>
            </a:r>
            <a:endParaRPr lang="en-US" sz="4000" dirty="0"/>
          </a:p>
        </p:txBody>
      </p:sp>
      <p:sp>
        <p:nvSpPr>
          <p:cNvPr id="10" name="Text 8"/>
          <p:cNvSpPr txBox="1"/>
          <p:nvPr/>
        </p:nvSpPr>
        <p:spPr>
          <a:xfrm>
            <a:off x="8183880" y="2057400"/>
            <a:ext cx="3200400" cy="685800"/>
          </a:xfrm>
          <a:prstGeom prst="rect">
            <a:avLst/>
          </a:prstGeom>
          <a:noFill/>
          <a:ln/>
        </p:spPr>
        <p:txBody>
          <a:bodyPr wrap="square" lIns="0" tIns="0" rIns="0" bIns="0" rtlCol="0" anchor="t"/>
          <a:lstStyle/>
          <a:p>
            <a:pPr indent="0" marL="0">
              <a:buNone/>
            </a:pPr>
            <a:r>
              <a:rPr lang="en-US" sz="1800" b="1" dirty="0">
                <a:solidFill>
                  <a:schemeClr val="tx2"/>
                </a:solidFill>
              </a:rPr>
              <a:t>Bancos estão à frente</a:t>
            </a:r>
            <a:endParaRPr lang="en-US" sz="1800" dirty="0"/>
          </a:p>
        </p:txBody>
      </p:sp>
      <p:sp>
        <p:nvSpPr>
          <p:cNvPr id="11" name="Text 9"/>
          <p:cNvSpPr txBox="1"/>
          <p:nvPr/>
        </p:nvSpPr>
        <p:spPr>
          <a:xfrm>
            <a:off x="6492240" y="2880360"/>
            <a:ext cx="4892040" cy="868680"/>
          </a:xfrm>
          <a:prstGeom prst="rect">
            <a:avLst/>
          </a:prstGeom>
          <a:noFill/>
          <a:ln/>
        </p:spPr>
        <p:txBody>
          <a:bodyPr wrap="square" lIns="0" tIns="0" rIns="0" bIns="0" rtlCol="0" anchor="t"/>
          <a:lstStyle/>
          <a:p>
            <a:pPr indent="0" marL="0">
              <a:buNone/>
            </a:pPr>
            <a:r>
              <a:rPr lang="en-US" sz="1400" dirty="0">
                <a:solidFill>
                  <a:schemeClr val="tx1"/>
                </a:solidFill>
              </a:rPr>
              <a:t>36% dos profissionais de bancos já veem IA em produção gerando resultado, contra 25% nos outros setores. A maioria ainda está em pilotos.</a:t>
            </a:r>
            <a:endParaRPr lang="en-US" sz="1400" dirty="0"/>
          </a:p>
        </p:txBody>
      </p:sp>
      <p:sp>
        <p:nvSpPr>
          <p:cNvPr id="12" name="Mensagem 3"/>
          <p:cNvSpPr/>
          <p:nvPr/>
        </p:nvSpPr>
        <p:spPr>
          <a:xfrm>
            <a:off x="548640" y="4023360"/>
            <a:ext cx="5413248" cy="2057400"/>
          </a:xfrm>
          <a:prstGeom prst="roundRect">
            <a:avLst>
              <a:gd name="adj" fmla="val 3556"/>
            </a:avLst>
          </a:prstGeom>
          <a:solidFill>
            <a:schemeClr val="bg2"/>
          </a:solidFill>
          <a:ln w="12700">
            <a:solidFill>
              <a:schemeClr val="bg2"/>
            </a:solidFill>
            <a:prstDash val="solid"/>
          </a:ln>
        </p:spPr>
      </p:sp>
      <p:sp>
        <p:nvSpPr>
          <p:cNvPr id="13" name="Número destaque"/>
          <p:cNvSpPr txBox="1"/>
          <p:nvPr/>
        </p:nvSpPr>
        <p:spPr>
          <a:xfrm>
            <a:off x="822960" y="4297680"/>
            <a:ext cx="16002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39%</a:t>
            </a:r>
            <a:endParaRPr lang="en-US" sz="4000" dirty="0"/>
          </a:p>
        </p:txBody>
      </p:sp>
      <p:sp>
        <p:nvSpPr>
          <p:cNvPr id="14" name="Text 12"/>
          <p:cNvSpPr txBox="1"/>
          <p:nvPr/>
        </p:nvSpPr>
        <p:spPr>
          <a:xfrm>
            <a:off x="2514600" y="4297680"/>
            <a:ext cx="3200400" cy="685800"/>
          </a:xfrm>
          <a:prstGeom prst="rect">
            <a:avLst/>
          </a:prstGeom>
          <a:noFill/>
          <a:ln/>
        </p:spPr>
        <p:txBody>
          <a:bodyPr wrap="square" lIns="0" tIns="0" rIns="0" bIns="0" rtlCol="0" anchor="t"/>
          <a:lstStyle/>
          <a:p>
            <a:pPr indent="0" marL="0">
              <a:buNone/>
            </a:pPr>
            <a:r>
              <a:rPr lang="en-US" sz="1800" b="1" dirty="0">
                <a:solidFill>
                  <a:schemeClr val="tx2"/>
                </a:solidFill>
              </a:rPr>
              <a:t>O gargalo é gente e dados</a:t>
            </a:r>
            <a:endParaRPr lang="en-US" sz="1800" dirty="0"/>
          </a:p>
        </p:txBody>
      </p:sp>
      <p:sp>
        <p:nvSpPr>
          <p:cNvPr id="15" name="Text 13"/>
          <p:cNvSpPr txBox="1"/>
          <p:nvPr/>
        </p:nvSpPr>
        <p:spPr>
          <a:xfrm>
            <a:off x="822960" y="5120640"/>
            <a:ext cx="4892040" cy="868680"/>
          </a:xfrm>
          <a:prstGeom prst="rect">
            <a:avLst/>
          </a:prstGeom>
          <a:noFill/>
          <a:ln/>
        </p:spPr>
        <p:txBody>
          <a:bodyPr wrap="square" lIns="0" tIns="0" rIns="0" bIns="0" rtlCol="0" anchor="t"/>
          <a:lstStyle/>
          <a:p>
            <a:pPr indent="0" marL="0">
              <a:buNone/>
            </a:pPr>
            <a:r>
              <a:rPr lang="en-US" sz="1400" dirty="0">
                <a:solidFill>
                  <a:schemeClr val="tx1"/>
                </a:solidFill>
              </a:rPr>
              <a:t>O que mais trava a IA é falta de gente preparada (39%) e dados que não estão prontos (37%). Tecnologia não aparece no topo.</a:t>
            </a:r>
            <a:endParaRPr lang="en-US" sz="1400" dirty="0"/>
          </a:p>
        </p:txBody>
      </p:sp>
      <p:sp>
        <p:nvSpPr>
          <p:cNvPr id="16" name="Mensagem 4"/>
          <p:cNvSpPr/>
          <p:nvPr/>
        </p:nvSpPr>
        <p:spPr>
          <a:xfrm>
            <a:off x="6217920" y="4023360"/>
            <a:ext cx="5413248" cy="2057400"/>
          </a:xfrm>
          <a:prstGeom prst="roundRect">
            <a:avLst>
              <a:gd name="adj" fmla="val 3556"/>
            </a:avLst>
          </a:prstGeom>
          <a:solidFill>
            <a:schemeClr val="bg2"/>
          </a:solidFill>
          <a:ln w="12700">
            <a:solidFill>
              <a:schemeClr val="bg2"/>
            </a:solidFill>
            <a:prstDash val="solid"/>
          </a:ln>
        </p:spPr>
      </p:sp>
      <p:sp>
        <p:nvSpPr>
          <p:cNvPr id="17" name="Número destaque"/>
          <p:cNvSpPr txBox="1"/>
          <p:nvPr/>
        </p:nvSpPr>
        <p:spPr>
          <a:xfrm>
            <a:off x="6492240" y="4297680"/>
            <a:ext cx="16002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52%</a:t>
            </a:r>
            <a:endParaRPr lang="en-US" sz="4000" dirty="0"/>
          </a:p>
        </p:txBody>
      </p:sp>
      <p:sp>
        <p:nvSpPr>
          <p:cNvPr id="18" name="Text 16"/>
          <p:cNvSpPr txBox="1"/>
          <p:nvPr/>
        </p:nvSpPr>
        <p:spPr>
          <a:xfrm>
            <a:off x="8183880" y="4297680"/>
            <a:ext cx="3200400" cy="685800"/>
          </a:xfrm>
          <a:prstGeom prst="rect">
            <a:avLst/>
          </a:prstGeom>
          <a:noFill/>
          <a:ln/>
        </p:spPr>
        <p:txBody>
          <a:bodyPr wrap="square" lIns="0" tIns="0" rIns="0" bIns="0" rtlCol="0" anchor="t"/>
          <a:lstStyle/>
          <a:p>
            <a:pPr indent="0" marL="0">
              <a:buNone/>
            </a:pPr>
            <a:r>
              <a:rPr lang="en-US" sz="1800" b="1" dirty="0">
                <a:solidFill>
                  <a:schemeClr val="tx2"/>
                </a:solidFill>
              </a:rPr>
              <a:t>Sênior é caro e quer flexibilidade</a:t>
            </a:r>
            <a:endParaRPr lang="en-US" sz="1800" dirty="0"/>
          </a:p>
        </p:txBody>
      </p:sp>
      <p:sp>
        <p:nvSpPr>
          <p:cNvPr id="19" name="Text 17"/>
          <p:cNvSpPr txBox="1"/>
          <p:nvPr/>
        </p:nvSpPr>
        <p:spPr>
          <a:xfrm>
            <a:off x="6492240" y="5120640"/>
            <a:ext cx="4892040" cy="868680"/>
          </a:xfrm>
          <a:prstGeom prst="rect">
            <a:avLst/>
          </a:prstGeom>
          <a:noFill/>
          <a:ln/>
        </p:spPr>
        <p:txBody>
          <a:bodyPr wrap="square" lIns="0" tIns="0" rIns="0" bIns="0" rtlCol="0" anchor="t"/>
          <a:lstStyle/>
          <a:p>
            <a:pPr indent="0" marL="0">
              <a:buNone/>
            </a:pPr>
            <a:r>
              <a:rPr lang="en-US" sz="1400" dirty="0">
                <a:solidFill>
                  <a:schemeClr val="tx1"/>
                </a:solidFill>
              </a:rPr>
              <a:t>52% dos seniores ganham mais de R$ 12 mil por mês, contra 11% dos plenos. E 43% querem híbrido flexível, mas só 20% têm.</a:t>
            </a:r>
            <a:endParaRPr lang="en-US" sz="1400" dirty="0"/>
          </a:p>
        </p:txBody>
      </p:sp>
      <p:sp>
        <p:nvSpPr>
          <p:cNvPr id="20" name="Base"/>
          <p:cNvSpPr txBox="1"/>
          <p:nvPr/>
        </p:nvSpPr>
        <p:spPr>
          <a:xfrm>
            <a:off x="548640" y="6108192"/>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Números da edição 2025-2026, salvo quando há comparação entre edições. As bases de cada número estão nos slides seguintes.</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COMO OS DADOS FORAM TRATADOS</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Da pesquisa bruta ao gráfico: um pipeline em camadas na AWS</a:t>
            </a:r>
            <a:endParaRPr lang="en-US" sz="2800" dirty="0"/>
          </a:p>
        </p:txBody>
      </p:sp>
      <p:pic>
        <p:nvPicPr>
          <p:cNvPr id="4" name="Diagrama Draw.io" descr="Diagrama da arquitetura AWS: S3 Bronze, Glue Jobs com PySpark, S3 Silver, S3 Gold, Glue Crawlers e Data Catalog, Athena, exportação CSV e PowerPoint">    </p:cNvPr>
          <p:cNvPicPr>
            <a:picLocks noChangeAspect="1"/>
          </p:cNvPicPr>
          <p:nvPr/>
        </p:nvPicPr>
        <p:blipFill>
          <a:blip r:embed="rId1"/>
          <a:stretch>
            <a:fillRect/>
          </a:stretch>
        </p:blipFill>
        <p:spPr>
          <a:xfrm>
            <a:off x="548640" y="1645920"/>
            <a:ext cx="11094415" cy="4244945"/>
          </a:xfrm>
          <a:prstGeom prst="rect">
            <a:avLst/>
          </a:prstGeom>
        </p:spPr>
      </p:pic>
      <p:sp>
        <p:nvSpPr>
          <p:cNvPr id="5" name="Bas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Por que em camadas: o original fica intacto, a limpeza é feita uma vez e todos os gráficos saem da mesma fonte.</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COMO O MERCADO ESTÁ ESTRUTURADO</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Analistas, cientistas e engenheiros de dados são 57% dos profissionais, que se concentram no Sudeste</a:t>
            </a:r>
            <a:endParaRPr lang="en-US" sz="2800" dirty="0"/>
          </a:p>
        </p:txBody>
      </p:sp>
      <p:sp>
        <p:nvSpPr>
          <p:cNvPr id="4" name="Indicador"/>
          <p:cNvSpPr/>
          <p:nvPr/>
        </p:nvSpPr>
        <p:spPr>
          <a:xfrm>
            <a:off x="548640" y="1783080"/>
            <a:ext cx="3291840" cy="914400"/>
          </a:xfrm>
          <a:prstGeom prst="roundRect">
            <a:avLst>
              <a:gd name="adj" fmla="val 8000"/>
            </a:avLst>
          </a:prstGeom>
          <a:solidFill>
            <a:schemeClr val="bg2"/>
          </a:solidFill>
          <a:ln w="12700">
            <a:solidFill>
              <a:schemeClr val="bg2"/>
            </a:solidFill>
            <a:prstDash val="solid"/>
          </a:ln>
        </p:spPr>
      </p:sp>
      <p:sp>
        <p:nvSpPr>
          <p:cNvPr id="5" name="Número destaque"/>
          <p:cNvSpPr txBox="1"/>
          <p:nvPr/>
        </p:nvSpPr>
        <p:spPr>
          <a:xfrm>
            <a:off x="777240" y="1892808"/>
            <a:ext cx="1463040" cy="694944"/>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3.494</a:t>
            </a:r>
            <a:endParaRPr lang="en-US" sz="3000" dirty="0"/>
          </a:p>
        </p:txBody>
      </p:sp>
      <p:sp>
        <p:nvSpPr>
          <p:cNvPr id="6" name="Text 4"/>
          <p:cNvSpPr txBox="1"/>
          <p:nvPr/>
        </p:nvSpPr>
        <p:spPr>
          <a:xfrm>
            <a:off x="2240280" y="1892808"/>
            <a:ext cx="1463040" cy="694944"/>
          </a:xfrm>
          <a:prstGeom prst="rect">
            <a:avLst/>
          </a:prstGeom>
          <a:noFill/>
          <a:ln/>
        </p:spPr>
        <p:txBody>
          <a:bodyPr wrap="square" lIns="0" tIns="0" rIns="0" bIns="0" rtlCol="0" anchor="ctr"/>
          <a:lstStyle/>
          <a:p>
            <a:pPr indent="0" marL="0">
              <a:buNone/>
            </a:pPr>
            <a:r>
              <a:rPr lang="en-US" sz="1400" dirty="0">
                <a:solidFill>
                  <a:schemeClr val="tx1"/>
                </a:solidFill>
              </a:rPr>
              <a:t>profissionais ouvidos em 2025-2026</a:t>
            </a:r>
            <a:endParaRPr lang="en-US" sz="1400" dirty="0"/>
          </a:p>
        </p:txBody>
      </p:sp>
      <p:sp>
        <p:nvSpPr>
          <p:cNvPr id="7" name="Indicador"/>
          <p:cNvSpPr/>
          <p:nvPr/>
        </p:nvSpPr>
        <p:spPr>
          <a:xfrm>
            <a:off x="548640" y="2807208"/>
            <a:ext cx="3291840" cy="914400"/>
          </a:xfrm>
          <a:prstGeom prst="roundRect">
            <a:avLst>
              <a:gd name="adj" fmla="val 8000"/>
            </a:avLst>
          </a:prstGeom>
          <a:solidFill>
            <a:schemeClr val="bg2"/>
          </a:solidFill>
          <a:ln w="12700">
            <a:solidFill>
              <a:schemeClr val="bg2"/>
            </a:solidFill>
            <a:prstDash val="solid"/>
          </a:ln>
        </p:spPr>
      </p:sp>
      <p:sp>
        <p:nvSpPr>
          <p:cNvPr id="8" name="Número destaque"/>
          <p:cNvSpPr txBox="1"/>
          <p:nvPr/>
        </p:nvSpPr>
        <p:spPr>
          <a:xfrm>
            <a:off x="777240" y="2916936"/>
            <a:ext cx="1463040" cy="694944"/>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48%</a:t>
            </a:r>
            <a:endParaRPr lang="en-US" sz="3000" dirty="0"/>
          </a:p>
        </p:txBody>
      </p:sp>
      <p:sp>
        <p:nvSpPr>
          <p:cNvPr id="9" name="Text 7"/>
          <p:cNvSpPr txBox="1"/>
          <p:nvPr/>
        </p:nvSpPr>
        <p:spPr>
          <a:xfrm>
            <a:off x="2240280" y="2916936"/>
            <a:ext cx="1463040" cy="694944"/>
          </a:xfrm>
          <a:prstGeom prst="rect">
            <a:avLst/>
          </a:prstGeom>
          <a:noFill/>
          <a:ln/>
        </p:spPr>
        <p:txBody>
          <a:bodyPr wrap="square" lIns="0" tIns="0" rIns="0" bIns="0" rtlCol="0" anchor="ctr"/>
          <a:lstStyle/>
          <a:p>
            <a:pPr indent="0" marL="0">
              <a:buNone/>
            </a:pPr>
            <a:r>
              <a:rPr lang="en-US" sz="1400" dirty="0">
                <a:solidFill>
                  <a:schemeClr val="tx1"/>
                </a:solidFill>
              </a:rPr>
              <a:t>são seniores ou especialistas</a:t>
            </a:r>
            <a:endParaRPr lang="en-US" sz="1400" dirty="0"/>
          </a:p>
        </p:txBody>
      </p:sp>
      <p:sp>
        <p:nvSpPr>
          <p:cNvPr id="10" name="Indicador"/>
          <p:cNvSpPr/>
          <p:nvPr/>
        </p:nvSpPr>
        <p:spPr>
          <a:xfrm>
            <a:off x="548640" y="3831336"/>
            <a:ext cx="3291840" cy="914400"/>
          </a:xfrm>
          <a:prstGeom prst="roundRect">
            <a:avLst>
              <a:gd name="adj" fmla="val 8000"/>
            </a:avLst>
          </a:prstGeom>
          <a:solidFill>
            <a:schemeClr val="bg2"/>
          </a:solidFill>
          <a:ln w="12700">
            <a:solidFill>
              <a:schemeClr val="bg2"/>
            </a:solidFill>
            <a:prstDash val="solid"/>
          </a:ln>
        </p:spPr>
      </p:sp>
      <p:sp>
        <p:nvSpPr>
          <p:cNvPr id="11" name="Número destaque"/>
          <p:cNvSpPr txBox="1"/>
          <p:nvPr/>
        </p:nvSpPr>
        <p:spPr>
          <a:xfrm>
            <a:off x="777240" y="3941064"/>
            <a:ext cx="1463040" cy="694944"/>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64%</a:t>
            </a:r>
            <a:endParaRPr lang="en-US" sz="3000" dirty="0"/>
          </a:p>
        </p:txBody>
      </p:sp>
      <p:sp>
        <p:nvSpPr>
          <p:cNvPr id="12" name="Text 10"/>
          <p:cNvSpPr txBox="1"/>
          <p:nvPr/>
        </p:nvSpPr>
        <p:spPr>
          <a:xfrm>
            <a:off x="2240280" y="3941064"/>
            <a:ext cx="1463040" cy="694944"/>
          </a:xfrm>
          <a:prstGeom prst="rect">
            <a:avLst/>
          </a:prstGeom>
          <a:noFill/>
          <a:ln/>
        </p:spPr>
        <p:txBody>
          <a:bodyPr wrap="square" lIns="0" tIns="0" rIns="0" bIns="0" rtlCol="0" anchor="ctr"/>
          <a:lstStyle/>
          <a:p>
            <a:pPr indent="0" marL="0">
              <a:buNone/>
            </a:pPr>
            <a:r>
              <a:rPr lang="en-US" sz="1400" dirty="0">
                <a:solidFill>
                  <a:schemeClr val="tx1"/>
                </a:solidFill>
              </a:rPr>
              <a:t>estão no Sudeste</a:t>
            </a:r>
            <a:endParaRPr lang="en-US" sz="1400" dirty="0"/>
          </a:p>
        </p:txBody>
      </p:sp>
      <p:sp>
        <p:nvSpPr>
          <p:cNvPr id="13" name="Indicador"/>
          <p:cNvSpPr/>
          <p:nvPr/>
        </p:nvSpPr>
        <p:spPr>
          <a:xfrm>
            <a:off x="548640" y="4855464"/>
            <a:ext cx="3291840" cy="914400"/>
          </a:xfrm>
          <a:prstGeom prst="roundRect">
            <a:avLst>
              <a:gd name="adj" fmla="val 8000"/>
            </a:avLst>
          </a:prstGeom>
          <a:solidFill>
            <a:schemeClr val="bg2"/>
          </a:solidFill>
          <a:ln w="12700">
            <a:solidFill>
              <a:schemeClr val="bg2"/>
            </a:solidFill>
            <a:prstDash val="solid"/>
          </a:ln>
        </p:spPr>
      </p:sp>
      <p:sp>
        <p:nvSpPr>
          <p:cNvPr id="14" name="Número destaque"/>
          <p:cNvSpPr txBox="1"/>
          <p:nvPr/>
        </p:nvSpPr>
        <p:spPr>
          <a:xfrm>
            <a:off x="777240" y="4965192"/>
            <a:ext cx="1463040" cy="694944"/>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20%</a:t>
            </a:r>
            <a:endParaRPr lang="en-US" sz="3000" dirty="0"/>
          </a:p>
        </p:txBody>
      </p:sp>
      <p:sp>
        <p:nvSpPr>
          <p:cNvPr id="15" name="Text 13"/>
          <p:cNvSpPr txBox="1"/>
          <p:nvPr/>
        </p:nvSpPr>
        <p:spPr>
          <a:xfrm>
            <a:off x="2240280" y="4965192"/>
            <a:ext cx="1463040" cy="694944"/>
          </a:xfrm>
          <a:prstGeom prst="rect">
            <a:avLst/>
          </a:prstGeom>
          <a:noFill/>
          <a:ln/>
        </p:spPr>
        <p:txBody>
          <a:bodyPr wrap="square" lIns="0" tIns="0" rIns="0" bIns="0" rtlCol="0" anchor="ctr"/>
          <a:lstStyle/>
          <a:p>
            <a:pPr indent="0" marL="0">
              <a:buNone/>
            </a:pPr>
            <a:r>
              <a:rPr lang="en-US" sz="1400" dirty="0">
                <a:solidFill>
                  <a:schemeClr val="tx1"/>
                </a:solidFill>
              </a:rPr>
              <a:t>estão fora do Sul e do Sudeste</a:t>
            </a:r>
            <a:endParaRPr lang="en-US" sz="1400" dirty="0"/>
          </a:p>
        </p:txBody>
      </p:sp>
      <p:graphicFrame>
        <p:nvGraphicFramePr>
          <p:cNvPr id="16" name="Chart 0" descr=""/>
          <p:cNvGraphicFramePr/>
          <p:nvPr/>
        </p:nvGraphicFramePr>
        <p:xfrm>
          <a:off x="4160520" y="169164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17" name="Bas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Bases 2025-2026: cargo e senioridade informados por 2.500 pessoas; região por 3.369. "Outra opção" e cargos menores omitidos.</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QUANTO O MERCADO PAGA</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Engenheiros e seniores estão no topo da remuneração, e os bancos pagam mais no nível Sênior</a:t>
            </a:r>
            <a:endParaRPr lang="en-US" sz="2800" dirty="0"/>
          </a:p>
        </p:txBody>
      </p:sp>
      <p:graphicFrame>
        <p:nvGraphicFramePr>
          <p:cNvPr id="4" name="Chart 0" descr=""/>
          <p:cNvGraphicFramePr/>
          <p:nvPr/>
        </p:nvGraphicFramePr>
        <p:xfrm>
          <a:off x="548640" y="1691640"/>
          <a:ext cx="539496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63640" y="1691640"/>
          <a:ext cx="5394960" cy="3429000"/>
        </p:xfrm>
        <a:graphic xmlns:a="http://schemas.openxmlformats.org/drawingml/2006/main">
          <a:graphicData uri="http://schemas.openxmlformats.org/drawingml/2006/chart">
            <c:chart xmlns:c="http://schemas.openxmlformats.org/drawingml/2006/chart" r:id="rId2"/>
          </a:graphicData>
        </a:graphic>
      </p:graphicFrame>
      <p:sp>
        <p:nvSpPr>
          <p:cNvPr id="6" name="Faixa de leitura"/>
          <p:cNvSpPr/>
          <p:nvPr/>
        </p:nvSpPr>
        <p:spPr>
          <a:xfrm>
            <a:off x="548640" y="5257800"/>
            <a:ext cx="11094415" cy="685800"/>
          </a:xfrm>
          <a:prstGeom prst="roundRect">
            <a:avLst>
              <a:gd name="adj" fmla="val 10667"/>
            </a:avLst>
          </a:prstGeom>
          <a:solidFill>
            <a:schemeClr val="bg2"/>
          </a:solidFill>
          <a:ln w="12700">
            <a:solidFill>
              <a:schemeClr val="bg2"/>
            </a:solidFill>
            <a:prstDash val="solid"/>
          </a:ln>
        </p:spPr>
      </p:sp>
      <p:sp>
        <p:nvSpPr>
          <p:cNvPr id="7" name="Texto da faixa"/>
          <p:cNvSpPr txBox="1"/>
          <p:nvPr/>
        </p:nvSpPr>
        <p:spPr>
          <a:xfrm>
            <a:off x="777240" y="5330952"/>
            <a:ext cx="10637215" cy="539496"/>
          </a:xfrm>
          <a:prstGeom prst="rect">
            <a:avLst/>
          </a:prstGeom>
          <a:noFill/>
          <a:ln/>
        </p:spPr>
        <p:txBody>
          <a:bodyPr wrap="square" lIns="0" tIns="0" rIns="0" bIns="0" rtlCol="0" anchor="ctr"/>
          <a:lstStyle/>
          <a:p>
            <a:pPr indent="0" marL="0">
              <a:buNone/>
            </a:pPr>
            <a:r>
              <a:rPr lang="en-US" sz="1400" b="1" dirty="0">
                <a:solidFill>
                  <a:schemeClr val="accent1"/>
                </a:solidFill>
              </a:rPr>
              <a:t>Na prática: </a:t>
            </a:r>
            <a:pPr indent="0" marL="0">
              <a:buNone/>
            </a:pPr>
            <a:r>
              <a:rPr lang="en-US" sz="1400" dirty="0">
                <a:solidFill>
                  <a:schemeClr val="tx1"/>
                </a:solidFill>
              </a:rPr>
              <a:t>o salário dá um salto de Pleno para Sênior (de cerca de 10% para 49% a 61% acima de R$ 12 mil). Por região, o Sudeste paga mais no geral (45% contra 32% no Nordeste), mas entre seniores a diferença some (49% contra 56%).</a:t>
            </a:r>
            <a:endParaRPr lang="en-US" sz="1400" dirty="0"/>
          </a:p>
        </p:txBody>
      </p:sp>
      <p:sp>
        <p:nvSpPr>
          <p:cNvPr id="8" name="Bas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2025-2026. Cargos com pelo menos 50 respostas. Bases por nível nos bancos: 97, 135, 193, 70. Seniores por região: 526 no Sudeste e 86 no Nordeste. Faixas salariais, não valores exatos.</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DIVERSIDADE DE GÊNERO</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Mulheres são 22% dos profissionais e aparecem menos nas faixas mais altas, mesmo no nível Sênior</a:t>
            </a:r>
            <a:endParaRPr lang="en-US" sz="2800" dirty="0"/>
          </a:p>
        </p:txBody>
      </p:sp>
      <p:graphicFrame>
        <p:nvGraphicFramePr>
          <p:cNvPr id="4" name="Chart 0" descr=""/>
          <p:cNvGraphicFramePr/>
          <p:nvPr/>
        </p:nvGraphicFramePr>
        <p:xfrm>
          <a:off x="548640" y="1691640"/>
          <a:ext cx="539496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63640" y="1691640"/>
          <a:ext cx="5394960" cy="3429000"/>
        </p:xfrm>
        <a:graphic xmlns:a="http://schemas.openxmlformats.org/drawingml/2006/main">
          <a:graphicData uri="http://schemas.openxmlformats.org/drawingml/2006/chart">
            <c:chart xmlns:c="http://schemas.openxmlformats.org/drawingml/2006/chart" r:id="rId2"/>
          </a:graphicData>
        </a:graphic>
      </p:graphicFrame>
      <p:sp>
        <p:nvSpPr>
          <p:cNvPr id="6" name="Faixa de leitura"/>
          <p:cNvSpPr/>
          <p:nvPr/>
        </p:nvSpPr>
        <p:spPr>
          <a:xfrm>
            <a:off x="548640" y="5257800"/>
            <a:ext cx="11094415" cy="685800"/>
          </a:xfrm>
          <a:prstGeom prst="roundRect">
            <a:avLst>
              <a:gd name="adj" fmla="val 10667"/>
            </a:avLst>
          </a:prstGeom>
          <a:solidFill>
            <a:schemeClr val="bg2"/>
          </a:solidFill>
          <a:ln w="12700">
            <a:solidFill>
              <a:schemeClr val="bg2"/>
            </a:solidFill>
            <a:prstDash val="solid"/>
          </a:ln>
        </p:spPr>
      </p:sp>
      <p:sp>
        <p:nvSpPr>
          <p:cNvPr id="7" name="Texto da faixa"/>
          <p:cNvSpPr txBox="1"/>
          <p:nvPr/>
        </p:nvSpPr>
        <p:spPr>
          <a:xfrm>
            <a:off x="777240" y="5330952"/>
            <a:ext cx="10637215" cy="539496"/>
          </a:xfrm>
          <a:prstGeom prst="rect">
            <a:avLst/>
          </a:prstGeom>
          <a:noFill/>
          <a:ln/>
        </p:spPr>
        <p:txBody>
          <a:bodyPr wrap="square" lIns="0" tIns="0" rIns="0" bIns="0" rtlCol="0" anchor="ctr"/>
          <a:lstStyle/>
          <a:p>
            <a:pPr indent="0" marL="0">
              <a:buNone/>
            </a:pPr>
            <a:r>
              <a:rPr lang="en-US" sz="1400" b="1" dirty="0">
                <a:solidFill>
                  <a:schemeClr val="accent1"/>
                </a:solidFill>
              </a:rPr>
              <a:t>Para o banco: </a:t>
            </a:r>
            <a:pPr indent="0" marL="0">
              <a:buNone/>
            </a:pPr>
            <a:r>
              <a:rPr lang="en-US" sz="1400" dirty="0">
                <a:solidFill>
                  <a:schemeClr val="tx1"/>
                </a:solidFill>
              </a:rPr>
              <a:t>a diferença aparece nas três edições, de 7 a 14 pontos. Vale auditar a equidade salarial por nível e cargo e definir metas para atrair mais mulheres.</a:t>
            </a:r>
            <a:endParaRPr lang="en-US" sz="1400" dirty="0"/>
          </a:p>
        </p:txBody>
      </p:sp>
      <p:sp>
        <p:nvSpPr>
          <p:cNvPr id="8" name="Bas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Seniores em 2025-2026: 178 mulheres e 675 homens. É uma associação: a diferença não isola cargo, região e setor.</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MODELO DE TRABALHO E ATRAÇÃO</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43% querem trabalho híbrido flexível, mas só 20% trabalham assim</a:t>
            </a:r>
            <a:endParaRPr lang="en-US" sz="2800" dirty="0"/>
          </a:p>
        </p:txBody>
      </p:sp>
      <p:graphicFrame>
        <p:nvGraphicFramePr>
          <p:cNvPr id="4" name="Chart 0" descr=""/>
          <p:cNvGraphicFramePr/>
          <p:nvPr/>
        </p:nvGraphicFramePr>
        <p:xfrm>
          <a:off x="548640" y="1691640"/>
          <a:ext cx="7223760" cy="4206240"/>
        </p:xfrm>
        <a:graphic xmlns:a="http://schemas.openxmlformats.org/drawingml/2006/main">
          <a:graphicData uri="http://schemas.openxmlformats.org/drawingml/2006/chart">
            <c:chart xmlns:c="http://schemas.openxmlformats.org/drawingml/2006/chart" r:id="rId1"/>
          </a:graphicData>
        </a:graphic>
      </p:graphicFrame>
      <p:sp>
        <p:nvSpPr>
          <p:cNvPr id="5" name="Painel de leitura"/>
          <p:cNvSpPr/>
          <p:nvPr/>
        </p:nvSpPr>
        <p:spPr>
          <a:xfrm>
            <a:off x="8092440" y="1783080"/>
            <a:ext cx="3547872" cy="4069080"/>
          </a:xfrm>
          <a:prstGeom prst="roundRect">
            <a:avLst>
              <a:gd name="adj" fmla="val 2062"/>
            </a:avLst>
          </a:prstGeom>
          <a:solidFill>
            <a:schemeClr val="bg2"/>
          </a:solidFill>
          <a:ln w="12700">
            <a:solidFill>
              <a:schemeClr val="bg2"/>
            </a:solidFill>
            <a:prstDash val="solid"/>
          </a:ln>
        </p:spPr>
      </p:sp>
      <p:sp>
        <p:nvSpPr>
          <p:cNvPr id="6" name="Texto do painel"/>
          <p:cNvSpPr txBox="1"/>
          <p:nvPr/>
        </p:nvSpPr>
        <p:spPr>
          <a:xfrm>
            <a:off x="8321040" y="1965960"/>
            <a:ext cx="3090672" cy="37033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O que atrai</a:t>
            </a:r>
            <a:endParaRPr lang="en-US" sz="1300" dirty="0"/>
          </a:p>
          <a:p>
            <a:pPr indent="0" marL="0">
              <a:spcAft>
                <a:spcPts val="1400"/>
              </a:spcAft>
              <a:buNone/>
            </a:pPr>
            <a:r>
              <a:rPr lang="en-US" sz="1400" dirty="0">
                <a:solidFill>
                  <a:schemeClr val="tx1"/>
                </a:solidFill>
              </a:rPr>
              <a:t>Salário vem primeiro (83%), seguido de flexibilidade remota (57%) e plano de carreira (32%).</a:t>
            </a:r>
            <a:endParaRPr lang="en-US" sz="1300" dirty="0"/>
          </a:p>
          <a:p>
            <a:pPr indent="0" marL="0">
              <a:spcAft>
                <a:spcPts val="400"/>
              </a:spcAft>
              <a:buNone/>
            </a:pPr>
            <a:r>
              <a:rPr lang="en-US" sz="1300" b="1" dirty="0">
                <a:solidFill>
                  <a:schemeClr val="accent1"/>
                </a:solidFill>
              </a:rPr>
              <a:t>O que retém</a:t>
            </a:r>
            <a:endParaRPr lang="en-US" sz="1300" dirty="0"/>
          </a:p>
          <a:p>
            <a:pPr indent="0" marL="0">
              <a:spcAft>
                <a:spcPts val="1400"/>
              </a:spcAft>
              <a:buNone/>
            </a:pPr>
            <a:r>
              <a:rPr lang="en-US" sz="1400" dirty="0">
                <a:solidFill>
                  <a:schemeClr val="tx1"/>
                </a:solidFill>
              </a:rPr>
              <a:t>Quem trabalha no modelo que prefere está mais satisfeito: 76% contra 62%.</a:t>
            </a:r>
            <a:endParaRPr lang="en-US" sz="1300" dirty="0"/>
          </a:p>
          <a:p>
            <a:pPr indent="0" marL="0">
              <a:spcAft>
                <a:spcPts val="400"/>
              </a:spcAft>
              <a:buNone/>
            </a:pPr>
            <a:r>
              <a:rPr lang="en-US" sz="1300" b="1" dirty="0">
                <a:solidFill>
                  <a:schemeClr val="accent1"/>
                </a:solidFill>
              </a:rPr>
              <a:t>Para o banco</a:t>
            </a:r>
            <a:endParaRPr lang="en-US" sz="1300" dirty="0"/>
          </a:p>
          <a:p>
            <a:pPr indent="0" marL="0">
              <a:spcAft>
                <a:spcPts val="1400"/>
              </a:spcAft>
              <a:buNone/>
            </a:pPr>
            <a:r>
              <a:rPr lang="en-US" sz="1400" dirty="0">
                <a:solidFill>
                  <a:schemeClr val="tx1"/>
                </a:solidFill>
              </a:rPr>
              <a:t>Oferecer híbrido flexível é um diferencial barato frente a quem exige dias fixos no escritório.</a:t>
            </a:r>
            <a:endParaRPr lang="en-US" sz="1300" dirty="0"/>
          </a:p>
        </p:txBody>
      </p:sp>
      <p:sp>
        <p:nvSpPr>
          <p:cNvPr id="7" name="Bas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Base: 3.227 respondentes. Critérios de escolha: cada pessoa pode marcar mais de um. Satisfação e modelo andam juntos, mas um não explica o outro sozinho.</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TECNOLOGIAS</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Python, SQL e AWS formam a base técnica, e nos bancos a AWS pesa ainda mais</a:t>
            </a:r>
            <a:endParaRPr lang="en-US" sz="2800" dirty="0"/>
          </a:p>
        </p:txBody>
      </p:sp>
      <p:graphicFrame>
        <p:nvGraphicFramePr>
          <p:cNvPr id="4" name="Chart 0" descr=""/>
          <p:cNvGraphicFramePr/>
          <p:nvPr/>
        </p:nvGraphicFramePr>
        <p:xfrm>
          <a:off x="548640" y="1691640"/>
          <a:ext cx="475488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623560" y="1691640"/>
          <a:ext cx="6035040" cy="3429000"/>
        </p:xfrm>
        <a:graphic xmlns:a="http://schemas.openxmlformats.org/drawingml/2006/main">
          <a:graphicData uri="http://schemas.openxmlformats.org/drawingml/2006/chart">
            <c:chart xmlns:c="http://schemas.openxmlformats.org/drawingml/2006/chart" r:id="rId2"/>
          </a:graphicData>
        </a:graphic>
      </p:graphicFrame>
      <p:sp>
        <p:nvSpPr>
          <p:cNvPr id="6" name="Faixa de leitura"/>
          <p:cNvSpPr/>
          <p:nvPr/>
        </p:nvSpPr>
        <p:spPr>
          <a:xfrm>
            <a:off x="548640" y="5257800"/>
            <a:ext cx="11094415" cy="685800"/>
          </a:xfrm>
          <a:prstGeom prst="roundRect">
            <a:avLst>
              <a:gd name="adj" fmla="val 10667"/>
            </a:avLst>
          </a:prstGeom>
          <a:solidFill>
            <a:schemeClr val="bg2"/>
          </a:solidFill>
          <a:ln w="12700">
            <a:solidFill>
              <a:schemeClr val="bg2"/>
            </a:solidFill>
            <a:prstDash val="solid"/>
          </a:ln>
        </p:spPr>
      </p:sp>
      <p:sp>
        <p:nvSpPr>
          <p:cNvPr id="7" name="Texto da faixa"/>
          <p:cNvSpPr txBox="1"/>
          <p:nvPr/>
        </p:nvSpPr>
        <p:spPr>
          <a:xfrm>
            <a:off x="777240" y="5330952"/>
            <a:ext cx="10637215" cy="539496"/>
          </a:xfrm>
          <a:prstGeom prst="rect">
            <a:avLst/>
          </a:prstGeom>
          <a:noFill/>
          <a:ln/>
        </p:spPr>
        <p:txBody>
          <a:bodyPr wrap="square" lIns="0" tIns="0" rIns="0" bIns="0" rtlCol="0" anchor="ctr"/>
          <a:lstStyle/>
          <a:p>
            <a:pPr indent="0" marL="0">
              <a:buNone/>
            </a:pPr>
            <a:r>
              <a:rPr lang="en-US" sz="1400" b="1" dirty="0">
                <a:solidFill>
                  <a:schemeClr val="accent1"/>
                </a:solidFill>
              </a:rPr>
              <a:t>Na prática: </a:t>
            </a:r>
            <a:pPr indent="0" marL="0">
              <a:buNone/>
            </a:pPr>
            <a:r>
              <a:rPr lang="en-US" sz="1400" dirty="0">
                <a:solidFill>
                  <a:schemeClr val="tx1"/>
                </a:solidFill>
              </a:rPr>
              <a:t>a liderança da AWS nos bancos se repete nas três edições (63%, 63%, 68%). No BI, o Power BI lidera com folga (59%), e nos bancos o QuickSight, da AWS, aparece em 19%, contra 4% nos demais.</a:t>
            </a:r>
            <a:endParaRPr lang="en-US" sz="1400" dirty="0"/>
          </a:p>
        </p:txBody>
      </p:sp>
      <p:sp>
        <p:nvSpPr>
          <p:cNvPr id="8" name="Bas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Bases: 2.095 (linguagens); 427 bancos e 1.668 demais setores (cloud 2025-2026); bancos nas edições anteriores: 747 e 824. Cada pessoa pode marcar mais de uma opção. Uso não mede vagas abertas.</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IA: ADOÇÃO, RESULTADOS E DESAFIOS</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tx2"/>
                </a:solidFill>
              </a:rPr>
              <a:t>A IA já é rotina para 98% dos profissionais, e os bancos estão à frente em levar projetos para produção</a:t>
            </a:r>
            <a:endParaRPr lang="en-US" sz="2800" dirty="0"/>
          </a:p>
        </p:txBody>
      </p:sp>
      <p:sp>
        <p:nvSpPr>
          <p:cNvPr id="4" name="Número destaque"/>
          <p:cNvSpPr txBox="1"/>
          <p:nvPr/>
        </p:nvSpPr>
        <p:spPr>
          <a:xfrm>
            <a:off x="548640" y="1783080"/>
            <a:ext cx="274320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98%</a:t>
            </a:r>
            <a:endParaRPr lang="en-US" sz="4000" dirty="0"/>
          </a:p>
        </p:txBody>
      </p:sp>
      <p:sp>
        <p:nvSpPr>
          <p:cNvPr id="5" name="Rótulo do número"/>
          <p:cNvSpPr txBox="1"/>
          <p:nvPr/>
        </p:nvSpPr>
        <p:spPr>
          <a:xfrm>
            <a:off x="548640" y="2532888"/>
            <a:ext cx="2743200" cy="685800"/>
          </a:xfrm>
          <a:prstGeom prst="rect">
            <a:avLst/>
          </a:prstGeom>
          <a:noFill/>
          <a:ln/>
        </p:spPr>
        <p:txBody>
          <a:bodyPr wrap="square" lIns="0" tIns="0" rIns="0" bIns="0" rtlCol="0" anchor="t"/>
          <a:lstStyle/>
          <a:p>
            <a:pPr indent="0" marL="0">
              <a:buNone/>
            </a:pPr>
            <a:r>
              <a:rPr lang="en-US" sz="1400" dirty="0">
                <a:solidFill>
                  <a:schemeClr val="tx1"/>
                </a:solidFill>
              </a:rPr>
              <a:t>usam IA generativa no trabalho (eram 81% em 2023-2024)</a:t>
            </a:r>
            <a:endParaRPr lang="en-US" sz="1400" dirty="0"/>
          </a:p>
        </p:txBody>
      </p:sp>
      <p:sp>
        <p:nvSpPr>
          <p:cNvPr id="6" name="Número destaque"/>
          <p:cNvSpPr txBox="1"/>
          <p:nvPr/>
        </p:nvSpPr>
        <p:spPr>
          <a:xfrm>
            <a:off x="548640" y="3429000"/>
            <a:ext cx="274320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56%</a:t>
            </a:r>
            <a:endParaRPr lang="en-US" sz="4000" dirty="0"/>
          </a:p>
        </p:txBody>
      </p:sp>
      <p:sp>
        <p:nvSpPr>
          <p:cNvPr id="7" name="Rótulo do número"/>
          <p:cNvSpPr txBox="1"/>
          <p:nvPr/>
        </p:nvSpPr>
        <p:spPr>
          <a:xfrm>
            <a:off x="548640" y="4178808"/>
            <a:ext cx="2743200" cy="685800"/>
          </a:xfrm>
          <a:prstGeom prst="rect">
            <a:avLst/>
          </a:prstGeom>
          <a:noFill/>
          <a:ln/>
        </p:spPr>
        <p:txBody>
          <a:bodyPr wrap="square" lIns="0" tIns="0" rIns="0" bIns="0" rtlCol="0" anchor="t"/>
          <a:lstStyle/>
          <a:p>
            <a:pPr indent="0" marL="0">
              <a:buNone/>
            </a:pPr>
            <a:r>
              <a:rPr lang="en-US" sz="1400" dirty="0">
                <a:solidFill>
                  <a:schemeClr val="tx1"/>
                </a:solidFill>
              </a:rPr>
              <a:t>dos profissionais de bancos têm IA paga pela empresa (39% nos demais)</a:t>
            </a:r>
            <a:endParaRPr lang="en-US" sz="1400" dirty="0"/>
          </a:p>
        </p:txBody>
      </p:sp>
      <p:graphicFrame>
        <p:nvGraphicFramePr>
          <p:cNvPr id="8" name="Chart 0" descr=""/>
          <p:cNvGraphicFramePr/>
          <p:nvPr/>
        </p:nvGraphicFramePr>
        <p:xfrm>
          <a:off x="3429000" y="1691640"/>
          <a:ext cx="4572000" cy="4206240"/>
        </p:xfrm>
        <a:graphic xmlns:a="http://schemas.openxmlformats.org/drawingml/2006/main">
          <a:graphicData uri="http://schemas.openxmlformats.org/drawingml/2006/chart">
            <c:chart xmlns:c="http://schemas.openxmlformats.org/drawingml/2006/chart" r:id="rId1"/>
          </a:graphicData>
        </a:graphic>
      </p:graphicFrame>
      <p:sp>
        <p:nvSpPr>
          <p:cNvPr id="9" name="Painel de leitura"/>
          <p:cNvSpPr/>
          <p:nvPr/>
        </p:nvSpPr>
        <p:spPr>
          <a:xfrm>
            <a:off x="8183880" y="1783080"/>
            <a:ext cx="3456432" cy="4069080"/>
          </a:xfrm>
          <a:prstGeom prst="roundRect">
            <a:avLst>
              <a:gd name="adj" fmla="val 2116"/>
            </a:avLst>
          </a:prstGeom>
          <a:solidFill>
            <a:schemeClr val="bg2"/>
          </a:solidFill>
          <a:ln w="12700">
            <a:solidFill>
              <a:schemeClr val="bg2"/>
            </a:solidFill>
            <a:prstDash val="solid"/>
          </a:ln>
        </p:spPr>
      </p:sp>
      <p:sp>
        <p:nvSpPr>
          <p:cNvPr id="10" name="Texto do painel"/>
          <p:cNvSpPr txBox="1"/>
          <p:nvPr/>
        </p:nvSpPr>
        <p:spPr>
          <a:xfrm>
            <a:off x="8412480" y="1965960"/>
            <a:ext cx="2999232" cy="37033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Desafios: o que trava</a:t>
            </a:r>
            <a:endParaRPr lang="en-US" sz="1300" dirty="0"/>
          </a:p>
          <a:p>
            <a:pPr indent="0" marL="0">
              <a:spcAft>
                <a:spcPts val="1400"/>
              </a:spcAft>
              <a:buNone/>
            </a:pPr>
            <a:r>
              <a:rPr lang="en-US" sz="1400" dirty="0">
                <a:solidFill>
                  <a:schemeClr val="tx1"/>
                </a:solidFill>
              </a:rPr>
              <a:t>Falta de gente preparada (39%), dados que não estão prontos (37%) e casos de uso pouco claros (32%).</a:t>
            </a:r>
            <a:endParaRPr lang="en-US" sz="1300" dirty="0"/>
          </a:p>
          <a:p>
            <a:pPr indent="0" marL="0">
              <a:spcAft>
                <a:spcPts val="400"/>
              </a:spcAft>
              <a:buNone/>
            </a:pPr>
            <a:r>
              <a:rPr lang="en-US" sz="1300" b="1" dirty="0">
                <a:solidFill>
                  <a:schemeClr val="accent1"/>
                </a:solidFill>
              </a:rPr>
              <a:t>A cobrança aumentou</a:t>
            </a:r>
            <a:endParaRPr lang="en-US" sz="1300" dirty="0"/>
          </a:p>
          <a:p>
            <a:pPr indent="0" marL="0">
              <a:spcAft>
                <a:spcPts val="1400"/>
              </a:spcAft>
              <a:buNone/>
            </a:pPr>
            <a:r>
              <a:rPr lang="en-US" sz="1400" dirty="0">
                <a:solidFill>
                  <a:schemeClr val="tx1"/>
                </a:solidFill>
              </a:rPr>
              <a:t>Quem cita retorno não comprovado como barreira passou de 15% para 28% em dois anos.</a:t>
            </a:r>
            <a:endParaRPr lang="en-US" sz="1300" dirty="0"/>
          </a:p>
        </p:txBody>
      </p:sp>
      <p:sp>
        <p:nvSpPr>
          <p:cNvPr id="11" name="Bas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2"/>
                </a:solidFill>
              </a:rPr>
              <a:t>2025-2026. Adoção: 2.100 respostas. Projetos: 97 bancos e 549 demais setores (relatos de profissionais, não de empresas; base de bancos pequena). Barreiras: 587 respostas.</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OPORTUNIDADES E RECOMENDAÇÕES</a:t>
            </a:r>
            <a:endParaRPr lang="en-US" sz="1200" dirty="0"/>
          </a:p>
        </p:txBody>
      </p:sp>
      <p:sp>
        <p:nvSpPr>
          <p:cNvPr id="3" name="Text 0"/>
          <p:cNvSpPr/>
          <p:nvPr>
            <p:ph idx="101" type="title" hasCustomPrompt="1"/>
          </p:nvPr>
        </p:nvSpPr>
        <p:spPr>
          <a:xfrm>
            <a:off x="548640" y="658368"/>
            <a:ext cx="11094415" cy="914400"/>
          </a:xfrm>
          <a:prstGeom prst="rect">
            <a:avLst/>
          </a:prstGeom>
          <a:noFill/>
          <a:ln/>
        </p:spPr>
        <p:txBody>
          <a:bodyPr wrap="square" lIns="0" tIns="0" rIns="0" bIns="0" rtlCol="0" anchor="t"/>
          <a:lstStyle/>
          <a:p>
            <a:pPr algn="l" indent="0" marL="0">
              <a:buNone/>
            </a:pPr>
            <a:r>
              <a:rPr lang="en-US" sz="2800" b="1" dirty="0">
                <a:solidFill>
                  <a:schemeClr val="bg1"/>
                </a:solidFill>
              </a:rPr>
              <a:t>Para o banco: contratar com foco, capacitar a base e investir em dados prontos para IA</a:t>
            </a:r>
            <a:endParaRPr lang="en-US" sz="2800" dirty="0"/>
          </a:p>
        </p:txBody>
      </p:sp>
      <p:sp>
        <p:nvSpPr>
          <p:cNvPr id="4" name="Recomendação Contratar"/>
          <p:cNvSpPr/>
          <p:nvPr/>
        </p:nvSpPr>
        <p:spPr>
          <a:xfrm>
            <a:off x="548640" y="1783080"/>
            <a:ext cx="3520440" cy="3429000"/>
          </a:xfrm>
          <a:prstGeom prst="roundRect">
            <a:avLst>
              <a:gd name="adj" fmla="val 2133"/>
            </a:avLst>
          </a:prstGeom>
          <a:solidFill>
            <a:srgbClr val="22304F"/>
          </a:solidFill>
          <a:ln w="12700">
            <a:solidFill>
              <a:srgbClr val="22304F"/>
            </a:solidFill>
            <a:prstDash val="solid"/>
          </a:ln>
        </p:spPr>
      </p:sp>
      <p:sp>
        <p:nvSpPr>
          <p:cNvPr id="5" name="Marcador 1"/>
          <p:cNvSpPr/>
          <p:nvPr/>
        </p:nvSpPr>
        <p:spPr>
          <a:xfrm>
            <a:off x="822960" y="2057400"/>
            <a:ext cx="502920" cy="502920"/>
          </a:xfrm>
          <a:prstGeom prst="ellipse">
            <a:avLst/>
          </a:prstGeom>
          <a:solidFill>
            <a:schemeClr val="accent1"/>
          </a:solidFill>
          <a:ln w="12700">
            <a:solidFill>
              <a:schemeClr val="accent1"/>
            </a:solidFill>
            <a:prstDash val="solid"/>
          </a:ln>
        </p:spPr>
      </p:sp>
      <p:sp>
        <p:nvSpPr>
          <p:cNvPr id="6" name="Número 1"/>
          <p:cNvSpPr txBox="1"/>
          <p:nvPr/>
        </p:nvSpPr>
        <p:spPr>
          <a:xfrm>
            <a:off x="822960" y="2057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463040" y="2057400"/>
            <a:ext cx="2377440" cy="5029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Contratar</a:t>
            </a:r>
            <a:endParaRPr lang="en-US" sz="2200" dirty="0"/>
          </a:p>
        </p:txBody>
      </p:sp>
      <p:sp>
        <p:nvSpPr>
          <p:cNvPr id="8" name="Text 6"/>
          <p:cNvSpPr txBox="1"/>
          <p:nvPr/>
        </p:nvSpPr>
        <p:spPr>
          <a:xfrm>
            <a:off x="822960" y="2788920"/>
            <a:ext cx="301752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Priorizar Engenharia de Dados, Analytics Engineering e ML/IA</a:t>
            </a:r>
            <a:endParaRPr lang="en-US" sz="1500" dirty="0"/>
          </a:p>
          <a:p>
            <a:pPr marL="342900" indent="-342900">
              <a:spcAft>
                <a:spcPts val="1000"/>
              </a:spcAft>
              <a:buSzPct val="100000"/>
              <a:buChar char="•"/>
            </a:pPr>
            <a:r>
              <a:rPr lang="en-US" sz="1500" dirty="0">
                <a:solidFill>
                  <a:schemeClr val="bg1"/>
                </a:solidFill>
              </a:rPr>
              <a:t>Orçar faixas competitivas para Sênior, onde o salário dá o salto</a:t>
            </a:r>
            <a:endParaRPr lang="en-US" sz="1500" dirty="0"/>
          </a:p>
          <a:p>
            <a:pPr marL="342900" indent="-342900">
              <a:spcAft>
                <a:spcPts val="1000"/>
              </a:spcAft>
              <a:buSzPct val="100000"/>
              <a:buChar char="•"/>
            </a:pPr>
            <a:r>
              <a:rPr lang="en-US" sz="1500" dirty="0">
                <a:solidFill>
                  <a:schemeClr val="bg1"/>
                </a:solidFill>
              </a:rPr>
              <a:t>Oferecer híbrido flexível e auditar a equidade salarial</a:t>
            </a:r>
            <a:endParaRPr lang="en-US" sz="1500" dirty="0"/>
          </a:p>
        </p:txBody>
      </p:sp>
      <p:sp>
        <p:nvSpPr>
          <p:cNvPr id="9" name="Recomendação Capacitar"/>
          <p:cNvSpPr/>
          <p:nvPr/>
        </p:nvSpPr>
        <p:spPr>
          <a:xfrm>
            <a:off x="4370832" y="1783080"/>
            <a:ext cx="3520440" cy="3429000"/>
          </a:xfrm>
          <a:prstGeom prst="roundRect">
            <a:avLst>
              <a:gd name="adj" fmla="val 2133"/>
            </a:avLst>
          </a:prstGeom>
          <a:solidFill>
            <a:srgbClr val="22304F"/>
          </a:solidFill>
          <a:ln w="12700">
            <a:solidFill>
              <a:srgbClr val="22304F"/>
            </a:solidFill>
            <a:prstDash val="solid"/>
          </a:ln>
        </p:spPr>
      </p:sp>
      <p:sp>
        <p:nvSpPr>
          <p:cNvPr id="10" name="Marcador 2"/>
          <p:cNvSpPr/>
          <p:nvPr/>
        </p:nvSpPr>
        <p:spPr>
          <a:xfrm>
            <a:off x="4645152" y="2057400"/>
            <a:ext cx="502920" cy="502920"/>
          </a:xfrm>
          <a:prstGeom prst="ellipse">
            <a:avLst/>
          </a:prstGeom>
          <a:solidFill>
            <a:schemeClr val="accent1"/>
          </a:solidFill>
          <a:ln w="12700">
            <a:solidFill>
              <a:schemeClr val="accent1"/>
            </a:solidFill>
            <a:prstDash val="solid"/>
          </a:ln>
        </p:spPr>
      </p:sp>
      <p:sp>
        <p:nvSpPr>
          <p:cNvPr id="11" name="Número 2"/>
          <p:cNvSpPr txBox="1"/>
          <p:nvPr/>
        </p:nvSpPr>
        <p:spPr>
          <a:xfrm>
            <a:off x="4645152" y="2057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5285232" y="2057400"/>
            <a:ext cx="2377440" cy="5029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Capacitar</a:t>
            </a:r>
            <a:endParaRPr lang="en-US" sz="2200" dirty="0"/>
          </a:p>
        </p:txBody>
      </p:sp>
      <p:sp>
        <p:nvSpPr>
          <p:cNvPr id="13" name="Text 11"/>
          <p:cNvSpPr txBox="1"/>
          <p:nvPr/>
        </p:nvSpPr>
        <p:spPr>
          <a:xfrm>
            <a:off x="4645152" y="2788920"/>
            <a:ext cx="301752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Trilha de IA aplicada ao negócio para toda a área de dados</a:t>
            </a:r>
            <a:endParaRPr lang="en-US" sz="1500" dirty="0"/>
          </a:p>
          <a:p>
            <a:pPr marL="342900" indent="-342900">
              <a:spcAft>
                <a:spcPts val="1000"/>
              </a:spcAft>
              <a:buSzPct val="100000"/>
              <a:buChar char="•"/>
            </a:pPr>
            <a:r>
              <a:rPr lang="en-US" sz="1500" dirty="0">
                <a:solidFill>
                  <a:schemeClr val="bg1"/>
                </a:solidFill>
              </a:rPr>
              <a:t>Python, SQL e AWS como base técnica comum</a:t>
            </a:r>
            <a:endParaRPr lang="en-US" sz="1500" dirty="0"/>
          </a:p>
          <a:p>
            <a:pPr marL="342900" indent="-342900">
              <a:spcAft>
                <a:spcPts val="1000"/>
              </a:spcAft>
              <a:buSzPct val="100000"/>
              <a:buChar char="•"/>
            </a:pPr>
            <a:r>
              <a:rPr lang="en-US" sz="1500" dirty="0">
                <a:solidFill>
                  <a:schemeClr val="bg1"/>
                </a:solidFill>
              </a:rPr>
              <a:t>Formar analistas internos para funções de engenharia</a:t>
            </a:r>
            <a:endParaRPr lang="en-US" sz="1500" dirty="0"/>
          </a:p>
        </p:txBody>
      </p:sp>
      <p:sp>
        <p:nvSpPr>
          <p:cNvPr id="14" name="Recomendação Investir"/>
          <p:cNvSpPr/>
          <p:nvPr/>
        </p:nvSpPr>
        <p:spPr>
          <a:xfrm>
            <a:off x="8193024" y="1783080"/>
            <a:ext cx="3520440" cy="3429000"/>
          </a:xfrm>
          <a:prstGeom prst="roundRect">
            <a:avLst>
              <a:gd name="adj" fmla="val 2133"/>
            </a:avLst>
          </a:prstGeom>
          <a:solidFill>
            <a:srgbClr val="22304F"/>
          </a:solidFill>
          <a:ln w="12700">
            <a:solidFill>
              <a:srgbClr val="22304F"/>
            </a:solidFill>
            <a:prstDash val="solid"/>
          </a:ln>
        </p:spPr>
      </p:sp>
      <p:sp>
        <p:nvSpPr>
          <p:cNvPr id="15" name="Marcador 3"/>
          <p:cNvSpPr/>
          <p:nvPr/>
        </p:nvSpPr>
        <p:spPr>
          <a:xfrm>
            <a:off x="8467344" y="2057400"/>
            <a:ext cx="502920" cy="502920"/>
          </a:xfrm>
          <a:prstGeom prst="ellipse">
            <a:avLst/>
          </a:prstGeom>
          <a:solidFill>
            <a:schemeClr val="accent1"/>
          </a:solidFill>
          <a:ln w="12700">
            <a:solidFill>
              <a:schemeClr val="accent1"/>
            </a:solidFill>
            <a:prstDash val="solid"/>
          </a:ln>
        </p:spPr>
      </p:sp>
      <p:sp>
        <p:nvSpPr>
          <p:cNvPr id="16" name="Número 3"/>
          <p:cNvSpPr txBox="1"/>
          <p:nvPr/>
        </p:nvSpPr>
        <p:spPr>
          <a:xfrm>
            <a:off x="8467344" y="2057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9107424" y="2057400"/>
            <a:ext cx="2377440" cy="5029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Investir</a:t>
            </a:r>
            <a:endParaRPr lang="en-US" sz="2200" dirty="0"/>
          </a:p>
        </p:txBody>
      </p:sp>
      <p:sp>
        <p:nvSpPr>
          <p:cNvPr id="18" name="Text 16"/>
          <p:cNvSpPr txBox="1"/>
          <p:nvPr/>
        </p:nvSpPr>
        <p:spPr>
          <a:xfrm>
            <a:off x="8467344" y="2788920"/>
            <a:ext cx="301752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Governança e qualidade para deixar os dados prontos para IA</a:t>
            </a:r>
            <a:endParaRPr lang="en-US" sz="1500" dirty="0"/>
          </a:p>
          <a:p>
            <a:pPr marL="342900" indent="-342900">
              <a:spcAft>
                <a:spcPts val="1000"/>
              </a:spcAft>
              <a:buSzPct val="100000"/>
              <a:buChar char="•"/>
            </a:pPr>
            <a:r>
              <a:rPr lang="en-US" sz="1500" dirty="0">
                <a:solidFill>
                  <a:schemeClr val="bg1"/>
                </a:solidFill>
              </a:rPr>
              <a:t>Ferramentas corporativas de IA com segurança e privacidade</a:t>
            </a:r>
            <a:endParaRPr lang="en-US" sz="1500" dirty="0"/>
          </a:p>
          <a:p>
            <a:pPr marL="342900" indent="-342900">
              <a:spcAft>
                <a:spcPts val="1000"/>
              </a:spcAft>
              <a:buSzPct val="100000"/>
              <a:buChar char="•"/>
            </a:pPr>
            <a:r>
              <a:rPr lang="en-US" sz="1500" dirty="0">
                <a:solidFill>
                  <a:schemeClr val="bg1"/>
                </a:solidFill>
              </a:rPr>
              <a:t>Levar pilotos à produção com metas de retorno desde o início</a:t>
            </a:r>
            <a:endParaRPr lang="en-US" sz="1500" dirty="0"/>
          </a:p>
        </p:txBody>
      </p:sp>
      <p:sp>
        <p:nvSpPr>
          <p:cNvPr id="19" name="Limitações"/>
          <p:cNvSpPr txBox="1"/>
          <p:nvPr/>
        </p:nvSpPr>
        <p:spPr>
          <a:xfrm>
            <a:off x="548640" y="5394960"/>
            <a:ext cx="9144000" cy="685800"/>
          </a:xfrm>
          <a:prstGeom prst="rect">
            <a:avLst/>
          </a:prstGeom>
          <a:noFill/>
          <a:ln/>
        </p:spPr>
        <p:txBody>
          <a:bodyPr wrap="square" lIns="0" tIns="0" rIns="0" bIns="0" rtlCol="0" anchor="t"/>
          <a:lstStyle/>
          <a:p>
            <a:pPr indent="0" marL="0">
              <a:buNone/>
            </a:pPr>
            <a:r>
              <a:rPr lang="en-US" sz="1200" b="1" dirty="0">
                <a:solidFill>
                  <a:schemeClr val="accent1"/>
                </a:solidFill>
              </a:rPr>
              <a:t>Cuidados na leitura: </a:t>
            </a:r>
            <a:pPr indent="0" marL="0">
              <a:buNone/>
            </a:pPr>
            <a:r>
              <a:rPr lang="en-US" sz="1200" dirty="0">
                <a:solidFill>
                  <a:schemeClr val="accent3"/>
                </a:solidFill>
              </a:rPr>
              <a:t>a pesquisa descreve quem respondeu, não toda a população; os salários vêm em faixas; algumas bases de bancos são pequenas. Corrigimos um erro de rótulo de cloud na base 2023-2024 da fonte, validado por cruzamento com as ferramentas de BI. Scripts, notebooks e instruções de reprodução estão nos anexos.</a:t>
            </a:r>
            <a:endParaRPr lang="en-US" sz="1200" dirty="0"/>
          </a:p>
        </p:txBody>
      </p:sp>
      <p:sp>
        <p:nvSpPr>
          <p:cNvPr id="20" name="Obrigado"/>
          <p:cNvSpPr txBox="1"/>
          <p:nvPr/>
        </p:nvSpPr>
        <p:spPr>
          <a:xfrm>
            <a:off x="9829800" y="5349240"/>
            <a:ext cx="1828800" cy="548640"/>
          </a:xfrm>
          <a:prstGeom prst="rect">
            <a:avLst/>
          </a:prstGeom>
          <a:noFill/>
          <a:ln/>
        </p:spPr>
        <p:txBody>
          <a:bodyPr wrap="square" lIns="0" tIns="0" rIns="0" bIns="0" rtlCol="0" anchor="ctr"/>
          <a:lstStyle/>
          <a:p>
            <a:pPr algn="r" indent="0" marL="0">
              <a:buNone/>
            </a:pPr>
            <a:r>
              <a:rPr lang="en-US" sz="2600" b="1" dirty="0">
                <a:solidFill>
                  <a:schemeClr val="accent1"/>
                </a:solidFill>
                <a:latin typeface="Cambria" pitchFamily="34" charset="0"/>
                <a:ea typeface="Cambria" pitchFamily="34" charset="-122"/>
                <a:cs typeface="Cambria" pitchFamily="34" charset="-120"/>
              </a:rPr>
              <a:t>Obrigado</a:t>
            </a:r>
            <a:endParaRPr lang="en-US" sz="2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Grupo 18 - Dados">
  <a:themeElements>
    <a:clrScheme name="Grupo 18 - Dados">
      <a:dk1>
        <a:srgbClr val="1B1F2A"/>
      </a:dk1>
      <a:lt1>
        <a:srgbClr val="FFFFFF"/>
      </a:lt1>
      <a:dk2>
        <a:srgbClr val="14213D"/>
      </a:dk2>
      <a:lt2>
        <a:srgbClr val="F2F4F7"/>
      </a:lt2>
      <a:accent1>
        <a:srgbClr val="E8871E"/>
      </a:accent1>
      <a:accent2>
        <a:srgbClr val="5B6B82"/>
      </a:accent2>
      <a:accent3>
        <a:srgbClr val="B8C0CC"/>
      </a:accent3>
      <a:accent4>
        <a:srgbClr val="2A9D8F"/>
      </a:accent4>
      <a:accent5>
        <a:srgbClr val="7D8BA1"/>
      </a:accent5>
      <a:accent6>
        <a:srgbClr val="B23A48"/>
      </a:accent6>
      <a:hlink>
        <a:srgbClr val="1F6FB2"/>
      </a:hlink>
      <a:folHlink>
        <a:srgbClr val="6B4C9A"/>
      </a:folHlink>
    </a:clrScheme>
    <a:fontScheme name="Grupo 18 - Dado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FIAP - Pós Data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Mercado brasileiro de Dados e IA - Tech Challenge Fase 3</dc:title>
  <dc:subject>PptxGenJS Presentation</dc:subject>
  <dc:creator>Grupo 18</dc:creator>
  <cp:lastModifiedBy>Grupo 18</cp:lastModifiedBy>
  <cp:revision>1</cp:revision>
  <dcterms:created xsi:type="dcterms:W3CDTF">2026-10-18T17:16:11Z</dcterms:created>
  <dcterms:modified xsi:type="dcterms:W3CDTF">2026-10-18T17:16:11Z</dcterms:modified>
</cp:coreProperties>
</file>